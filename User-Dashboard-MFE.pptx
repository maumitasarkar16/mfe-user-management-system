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60" r:id="rId3"/>
    <p:sldId id="257" r:id="rId4"/>
    <p:sldId id="258" r:id="rId5"/>
    <p:sldId id="259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625D5F3-DDCE-1FDF-5ABF-2B603269BE8E}" v="279" dt="2025-11-10T05:32:19.184"/>
    <p1510:client id="{FBBF9802-8D48-4786-8A1E-466268931D3E}" v="339" dt="2025-11-09T11:59:58.04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972" autoAdjust="0"/>
    <p:restoredTop sz="94660"/>
  </p:normalViewPr>
  <p:slideViewPr>
    <p:cSldViewPr snapToGrid="0">
      <p:cViewPr varScale="1">
        <p:scale>
          <a:sx n="86" d="100"/>
          <a:sy n="86" d="100"/>
        </p:scale>
        <p:origin x="96" y="8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://192.168.1.1:5001" TargetMode="External"/><Relationship Id="rId2" Type="http://schemas.openxmlformats.org/officeDocument/2006/relationships/hyperlink" Target="http://localhost:5000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://127.0.0.1:5001/" TargetMode="External"/><Relationship Id="rId5" Type="http://schemas.openxmlformats.org/officeDocument/2006/relationships/hyperlink" Target="http://192.168.1.1:5001/" TargetMode="External"/><Relationship Id="rId4" Type="http://schemas.openxmlformats.org/officeDocument/2006/relationships/hyperlink" Target="http://127.0.0.1:5001" TargetMode="Externa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504A2DE-4EA0-7B9B-D368-F40A9A2FCF63}"/>
              </a:ext>
            </a:extLst>
          </p:cNvPr>
          <p:cNvSpPr/>
          <p:nvPr/>
        </p:nvSpPr>
        <p:spPr>
          <a:xfrm>
            <a:off x="453197" y="582259"/>
            <a:ext cx="11305436" cy="5927214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9BB74274-0CB7-975C-B37F-326867C1E053}"/>
              </a:ext>
            </a:extLst>
          </p:cNvPr>
          <p:cNvSpPr/>
          <p:nvPr/>
        </p:nvSpPr>
        <p:spPr>
          <a:xfrm>
            <a:off x="1007926" y="3433127"/>
            <a:ext cx="3175407" cy="152889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ea typeface="+mn-lt"/>
                <a:cs typeface="+mn-lt"/>
              </a:rPr>
              <a:t>dashboard-shell</a:t>
            </a:r>
            <a:endParaRPr lang="en-US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8D3A293-2951-1CBD-AF58-1B8A13349B05}"/>
              </a:ext>
            </a:extLst>
          </p:cNvPr>
          <p:cNvSpPr/>
          <p:nvPr/>
        </p:nvSpPr>
        <p:spPr>
          <a:xfrm>
            <a:off x="4515367" y="3433127"/>
            <a:ext cx="3175407" cy="152889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ea typeface="+mn-lt"/>
                <a:cs typeface="+mn-lt"/>
              </a:rPr>
              <a:t>user-list-micro-frontend</a:t>
            </a:r>
            <a:endParaRPr lang="en-US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652AF48C-4501-E91C-09BA-91CDA9B22749}"/>
              </a:ext>
            </a:extLst>
          </p:cNvPr>
          <p:cNvSpPr/>
          <p:nvPr/>
        </p:nvSpPr>
        <p:spPr>
          <a:xfrm>
            <a:off x="8000396" y="3433126"/>
            <a:ext cx="3175407" cy="152889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ea typeface="+mn-lt"/>
                <a:cs typeface="+mn-lt"/>
              </a:rPr>
              <a:t>user-details-micro-frontend</a:t>
            </a:r>
            <a:endParaRPr lang="en-US" dirty="0">
              <a:solidFill>
                <a:srgbClr val="000000"/>
              </a:solidFill>
              <a:ea typeface="+mn-lt"/>
              <a:cs typeface="+mn-lt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C885395-E4ED-863E-AAC4-E4154545D19A}"/>
              </a:ext>
            </a:extLst>
          </p:cNvPr>
          <p:cNvSpPr txBox="1"/>
          <p:nvPr/>
        </p:nvSpPr>
        <p:spPr>
          <a:xfrm>
            <a:off x="2026210" y="1064094"/>
            <a:ext cx="9141757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3600" dirty="0">
                <a:ea typeface="+mn-lt"/>
                <a:cs typeface="+mn-lt"/>
              </a:rPr>
              <a:t>user-dashboard-take-home-assignment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B397FAE-0DF8-3D9E-AAEA-97AF8826D753}"/>
              </a:ext>
            </a:extLst>
          </p:cNvPr>
          <p:cNvSpPr txBox="1"/>
          <p:nvPr/>
        </p:nvSpPr>
        <p:spPr>
          <a:xfrm>
            <a:off x="1226356" y="4973062"/>
            <a:ext cx="2743200" cy="147732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>
                <a:ea typeface="+mn-lt"/>
                <a:cs typeface="+mn-lt"/>
              </a:rPr>
              <a:t>-  Vite config</a:t>
            </a:r>
            <a:endParaRPr lang="en-US" dirty="0"/>
          </a:p>
          <a:p>
            <a:pPr marL="285750" indent="-285750">
              <a:buFont typeface="Calibri"/>
              <a:buChar char="-"/>
            </a:pPr>
            <a:r>
              <a:rPr lang="en-US" dirty="0">
                <a:ea typeface="+mn-lt"/>
                <a:cs typeface="+mn-lt"/>
              </a:rPr>
              <a:t>Loads MFE runtime   </a:t>
            </a:r>
            <a:endParaRPr lang="en-US">
              <a:ea typeface="+mn-lt"/>
              <a:cs typeface="+mn-lt"/>
            </a:endParaRPr>
          </a:p>
          <a:p>
            <a:pPr marL="285750" indent="-285750">
              <a:buFont typeface="Calibri"/>
              <a:buChar char="-"/>
            </a:pPr>
            <a:r>
              <a:rPr lang="en-US" dirty="0">
                <a:ea typeface="+mn-lt"/>
                <a:cs typeface="+mn-lt"/>
              </a:rPr>
              <a:t>Registers MFEs</a:t>
            </a:r>
          </a:p>
          <a:p>
            <a:pPr marL="285750" indent="-285750">
              <a:buFont typeface="Calibri"/>
              <a:buChar char="-"/>
            </a:pPr>
            <a:r>
              <a:rPr lang="en-US" dirty="0">
                <a:ea typeface="+mn-lt"/>
                <a:cs typeface="+mn-lt"/>
              </a:rPr>
              <a:t>Handles global routing </a:t>
            </a:r>
          </a:p>
          <a:p>
            <a:pPr marL="285750" indent="-285750">
              <a:buFont typeface="Calibri"/>
              <a:buChar char="-"/>
            </a:pP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F2BF5F1-0573-740C-FB4B-9BAE4AE64AA4}"/>
              </a:ext>
            </a:extLst>
          </p:cNvPr>
          <p:cNvSpPr txBox="1"/>
          <p:nvPr/>
        </p:nvSpPr>
        <p:spPr>
          <a:xfrm>
            <a:off x="4978658" y="4939476"/>
            <a:ext cx="2722147" cy="147732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>
                <a:solidFill>
                  <a:srgbClr val="000000"/>
                </a:solidFill>
                <a:latin typeface="Aptos"/>
              </a:rPr>
              <a:t>Route path="/users"</a:t>
            </a:r>
            <a:endParaRPr lang="en-US" dirty="0"/>
          </a:p>
          <a:p>
            <a:pPr algn="l"/>
            <a:endParaRPr lang="en-US" dirty="0"/>
          </a:p>
          <a:p>
            <a:pPr marL="285750" indent="-285750">
              <a:buFont typeface="Calibri"/>
              <a:buChar char="-"/>
            </a:pPr>
            <a:r>
              <a:rPr lang="en-US" dirty="0" err="1"/>
              <a:t>VIte</a:t>
            </a:r>
            <a:r>
              <a:rPr lang="en-US" dirty="0"/>
              <a:t> Config</a:t>
            </a:r>
          </a:p>
          <a:p>
            <a:pPr marL="285750" indent="-285750">
              <a:buFont typeface="Calibri"/>
              <a:buChar char="-"/>
            </a:pPr>
            <a:r>
              <a:rPr lang="en-US" dirty="0"/>
              <a:t>Manage internal states</a:t>
            </a:r>
          </a:p>
          <a:p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A0C5AE4-6692-3D15-D7F9-4B50F6646DEF}"/>
              </a:ext>
            </a:extLst>
          </p:cNvPr>
          <p:cNvSpPr txBox="1"/>
          <p:nvPr/>
        </p:nvSpPr>
        <p:spPr>
          <a:xfrm>
            <a:off x="8474893" y="4939477"/>
            <a:ext cx="2935059" cy="147732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>
                <a:solidFill>
                  <a:srgbClr val="000000"/>
                </a:solidFill>
                <a:latin typeface="Aptos"/>
              </a:rPr>
              <a:t>Route path="/users/:id"</a:t>
            </a:r>
            <a:endParaRPr lang="en-US" dirty="0"/>
          </a:p>
          <a:p>
            <a:pPr algn="l"/>
            <a:endParaRPr lang="en-US" dirty="0"/>
          </a:p>
          <a:p>
            <a:pPr marL="285750" indent="-285750">
              <a:buFont typeface="Calibri"/>
              <a:buChar char="-"/>
            </a:pPr>
            <a:r>
              <a:rPr lang="en-US" dirty="0"/>
              <a:t>Vite Config</a:t>
            </a:r>
          </a:p>
          <a:p>
            <a:pPr marL="285750" indent="-285750">
              <a:buFont typeface="Calibri"/>
              <a:buChar char="-"/>
            </a:pPr>
            <a:r>
              <a:rPr lang="en-US" dirty="0"/>
              <a:t>Manage internal states</a:t>
            </a:r>
          </a:p>
          <a:p>
            <a:endParaRPr lang="en-US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9ECA125-CE13-4C76-2649-802F5D1696D5}"/>
              </a:ext>
            </a:extLst>
          </p:cNvPr>
          <p:cNvCxnSpPr/>
          <p:nvPr/>
        </p:nvCxnSpPr>
        <p:spPr>
          <a:xfrm>
            <a:off x="2268148" y="2520165"/>
            <a:ext cx="16808" cy="8064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8E6E7B37-B340-CF3D-69F5-8CB0128C0B70}"/>
              </a:ext>
            </a:extLst>
          </p:cNvPr>
          <p:cNvCxnSpPr/>
          <p:nvPr/>
        </p:nvCxnSpPr>
        <p:spPr>
          <a:xfrm>
            <a:off x="2217744" y="2486562"/>
            <a:ext cx="7493289" cy="16808"/>
          </a:xfrm>
          <a:prstGeom prst="straightConnector1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911B0793-704D-876A-545C-63A99F14512D}"/>
              </a:ext>
            </a:extLst>
          </p:cNvPr>
          <p:cNvCxnSpPr/>
          <p:nvPr/>
        </p:nvCxnSpPr>
        <p:spPr>
          <a:xfrm>
            <a:off x="9660631" y="2503364"/>
            <a:ext cx="33602" cy="84005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540AE48-3127-05E8-11AA-B4B16EBA5052}"/>
              </a:ext>
            </a:extLst>
          </p:cNvPr>
          <p:cNvCxnSpPr/>
          <p:nvPr/>
        </p:nvCxnSpPr>
        <p:spPr>
          <a:xfrm>
            <a:off x="5863583" y="2469761"/>
            <a:ext cx="16808" cy="89045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F603C0FB-B4B2-EBE2-6008-39F149810A6A}"/>
              </a:ext>
            </a:extLst>
          </p:cNvPr>
          <p:cNvSpPr txBox="1"/>
          <p:nvPr/>
        </p:nvSpPr>
        <p:spPr>
          <a:xfrm>
            <a:off x="3970669" y="2234498"/>
            <a:ext cx="4749053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i="1" dirty="0"/>
              <a:t>Communicate via Custom Event Handlers</a:t>
            </a:r>
          </a:p>
        </p:txBody>
      </p:sp>
      <p:sp>
        <p:nvSpPr>
          <p:cNvPr id="17" name="Cylinder 16">
            <a:extLst>
              <a:ext uri="{FF2B5EF4-FFF2-40B4-BE49-F238E27FC236}">
                <a16:creationId xmlns:a16="http://schemas.microsoft.com/office/drawing/2014/main" id="{2EF94A25-29FF-CC0D-71E7-7B7A8E1480E4}"/>
              </a:ext>
            </a:extLst>
          </p:cNvPr>
          <p:cNvSpPr/>
          <p:nvPr/>
        </p:nvSpPr>
        <p:spPr>
          <a:xfrm>
            <a:off x="10337994" y="1898508"/>
            <a:ext cx="1260358" cy="1041699"/>
          </a:xfrm>
          <a:prstGeom prst="ca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err="1"/>
              <a:t>localstorage</a:t>
            </a:r>
            <a:endParaRPr lang="en-US" sz="1400"/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A2C440-E2FC-1293-0226-457D91A5AC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2800" dirty="0">
                <a:solidFill>
                  <a:schemeClr val="tx2">
                    <a:lumMod val="49000"/>
                    <a:lumOff val="51000"/>
                  </a:schemeClr>
                </a:solidFill>
                <a:latin typeface="Aptos"/>
              </a:rPr>
              <a:t>This repository demonstrates a Micro-Frontend (MFE) architecture using Vite + React 18 + Module Federation. </a:t>
            </a:r>
            <a:br>
              <a:rPr lang="en-US" sz="2800" dirty="0">
                <a:solidFill>
                  <a:schemeClr val="tx2">
                    <a:lumMod val="49000"/>
                    <a:lumOff val="51000"/>
                  </a:schemeClr>
                </a:solidFill>
                <a:latin typeface="Aptos"/>
              </a:rPr>
            </a:br>
            <a:br>
              <a:rPr lang="en-US" sz="2800" dirty="0">
                <a:solidFill>
                  <a:schemeClr val="tx2">
                    <a:lumMod val="49000"/>
                    <a:lumOff val="51000"/>
                  </a:schemeClr>
                </a:solidFill>
                <a:latin typeface="Aptos"/>
              </a:rPr>
            </a:br>
            <a:r>
              <a:rPr lang="en-US" sz="2800" dirty="0">
                <a:solidFill>
                  <a:schemeClr val="tx2">
                    <a:lumMod val="49000"/>
                    <a:lumOff val="51000"/>
                  </a:schemeClr>
                </a:solidFill>
                <a:latin typeface="Aptos"/>
              </a:rPr>
              <a:t>The project includes three micro apps:</a:t>
            </a:r>
            <a:endParaRPr lang="en-US" dirty="0">
              <a:solidFill>
                <a:schemeClr val="tx2">
                  <a:lumMod val="49000"/>
                  <a:lumOff val="51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7EC3DC-310F-47CF-D577-CC6B3916EE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US"/>
          </a:p>
          <a:p>
            <a:r>
              <a:rPr lang="en-US" b="1" dirty="0">
                <a:ea typeface="+mn-lt"/>
                <a:cs typeface="+mn-lt"/>
              </a:rPr>
              <a:t>Shell</a:t>
            </a:r>
            <a:r>
              <a:rPr lang="en-US" dirty="0">
                <a:ea typeface="+mn-lt"/>
                <a:cs typeface="+mn-lt"/>
              </a:rPr>
              <a:t>:  Main container with navigation. The main host application.</a:t>
            </a:r>
            <a:endParaRPr lang="en-US" dirty="0"/>
          </a:p>
          <a:p>
            <a:r>
              <a:rPr lang="en-US" b="1" dirty="0" err="1">
                <a:ea typeface="+mn-lt"/>
                <a:cs typeface="+mn-lt"/>
              </a:rPr>
              <a:t>UserList</a:t>
            </a:r>
            <a:r>
              <a:rPr lang="en-US" b="1" dirty="0">
                <a:ea typeface="+mn-lt"/>
                <a:cs typeface="+mn-lt"/>
              </a:rPr>
              <a:t> MFE</a:t>
            </a:r>
            <a:r>
              <a:rPr lang="en-US" dirty="0">
                <a:ea typeface="+mn-lt"/>
                <a:cs typeface="+mn-lt"/>
              </a:rPr>
              <a:t>:  Displays paginated user list with search.</a:t>
            </a:r>
            <a:endParaRPr lang="en-US" dirty="0"/>
          </a:p>
          <a:p>
            <a:r>
              <a:rPr lang="en-US" b="1" dirty="0" err="1">
                <a:ea typeface="+mn-lt"/>
                <a:cs typeface="+mn-lt"/>
              </a:rPr>
              <a:t>UserDetails</a:t>
            </a:r>
            <a:r>
              <a:rPr lang="en-US" b="1" dirty="0">
                <a:ea typeface="+mn-lt"/>
                <a:cs typeface="+mn-lt"/>
              </a:rPr>
              <a:t> MFE</a:t>
            </a:r>
            <a:r>
              <a:rPr lang="en-US" dirty="0">
                <a:ea typeface="+mn-lt"/>
                <a:cs typeface="+mn-lt"/>
              </a:rPr>
              <a:t>:  Displays selected user details. Shows detailed information of a selected user.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31796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FD6DAB-F072-E57A-7DF4-492F3E58A4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600" b="1" dirty="0">
                <a:solidFill>
                  <a:schemeClr val="tx2">
                    <a:lumMod val="49000"/>
                    <a:lumOff val="51000"/>
                  </a:schemeClr>
                </a:solidFill>
                <a:latin typeface="Aptos"/>
              </a:rPr>
              <a:t>dashboard-shell</a:t>
            </a:r>
            <a:endParaRPr lang="en-US" dirty="0">
              <a:solidFill>
                <a:schemeClr val="tx2">
                  <a:lumMod val="49000"/>
                  <a:lumOff val="51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15D025-AF52-C3DA-3DD3-8C0306AAC0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 fontScale="92500" lnSpcReduction="20000"/>
          </a:bodyPr>
          <a:lstStyle/>
          <a:p>
            <a:pPr>
              <a:buNone/>
            </a:pPr>
            <a:endParaRPr lang="en-US" b="1" dirty="0"/>
          </a:p>
          <a:p>
            <a:pPr>
              <a:buFont typeface="Arial"/>
              <a:buChar char="•"/>
            </a:pPr>
            <a:r>
              <a:rPr lang="en-US" dirty="0">
                <a:ea typeface="+mn-lt"/>
                <a:cs typeface="+mn-lt"/>
              </a:rPr>
              <a:t>Hosts the root-level router (e.g. React Router or custom navigation)</a:t>
            </a:r>
            <a:endParaRPr lang="en-US" dirty="0"/>
          </a:p>
          <a:p>
            <a:pPr>
              <a:buFont typeface="Arial"/>
              <a:buChar char="•"/>
            </a:pPr>
            <a:r>
              <a:rPr lang="en-US" dirty="0">
                <a:ea typeface="+mn-lt"/>
                <a:cs typeface="+mn-lt"/>
              </a:rPr>
              <a:t>Dynamically loads micro-frontends via </a:t>
            </a:r>
            <a:r>
              <a:rPr lang="en-US" b="1" dirty="0">
                <a:ea typeface="+mn-lt"/>
                <a:cs typeface="+mn-lt"/>
              </a:rPr>
              <a:t>Module Federation</a:t>
            </a:r>
            <a:endParaRPr lang="en-US"/>
          </a:p>
          <a:p>
            <a:pPr>
              <a:buFont typeface="Arial"/>
              <a:buChar char="•"/>
            </a:pPr>
            <a:r>
              <a:rPr lang="en-US" dirty="0">
                <a:ea typeface="+mn-lt"/>
                <a:cs typeface="+mn-lt"/>
              </a:rPr>
              <a:t>Will manage </a:t>
            </a:r>
            <a:r>
              <a:rPr lang="en-US" b="1" dirty="0">
                <a:ea typeface="+mn-lt"/>
                <a:cs typeface="+mn-lt"/>
              </a:rPr>
              <a:t>global application state</a:t>
            </a:r>
            <a:r>
              <a:rPr lang="en-US" dirty="0">
                <a:ea typeface="+mn-lt"/>
                <a:cs typeface="+mn-lt"/>
              </a:rPr>
              <a:t> (theme, authentication, etc.)</a:t>
            </a:r>
            <a:endParaRPr lang="en-US"/>
          </a:p>
          <a:p>
            <a:pPr>
              <a:buFont typeface="Arial"/>
              <a:buChar char="•"/>
            </a:pPr>
            <a:r>
              <a:rPr lang="en-US" dirty="0">
                <a:ea typeface="+mn-lt"/>
                <a:cs typeface="+mn-lt"/>
              </a:rPr>
              <a:t>Handles </a:t>
            </a:r>
            <a:r>
              <a:rPr lang="en-US" b="1" dirty="0">
                <a:ea typeface="+mn-lt"/>
                <a:cs typeface="+mn-lt"/>
              </a:rPr>
              <a:t>cross-MFE communication</a:t>
            </a:r>
            <a:r>
              <a:rPr lang="en-US" dirty="0">
                <a:ea typeface="+mn-lt"/>
                <a:cs typeface="+mn-lt"/>
              </a:rPr>
              <a:t> through custom events</a:t>
            </a:r>
            <a:endParaRPr lang="en-US"/>
          </a:p>
          <a:p>
            <a:pPr>
              <a:buFont typeface="Arial"/>
              <a:buChar char="•"/>
            </a:pPr>
            <a:r>
              <a:rPr lang="en-US" dirty="0">
                <a:ea typeface="+mn-lt"/>
                <a:cs typeface="+mn-lt"/>
              </a:rPr>
              <a:t>Persists selected user info or app state in </a:t>
            </a:r>
            <a:r>
              <a:rPr lang="en-US" b="1" dirty="0" err="1">
                <a:ea typeface="+mn-lt"/>
                <a:cs typeface="+mn-lt"/>
              </a:rPr>
              <a:t>localStorage</a:t>
            </a:r>
            <a:endParaRPr lang="en-US"/>
          </a:p>
          <a:p>
            <a:pPr>
              <a:buFont typeface="Arial"/>
              <a:buChar char="•"/>
            </a:pPr>
            <a:r>
              <a:rPr lang="en-US" dirty="0">
                <a:ea typeface="+mn-lt"/>
                <a:cs typeface="+mn-lt"/>
              </a:rPr>
              <a:t>Manages </a:t>
            </a:r>
            <a:r>
              <a:rPr lang="en-US" b="1" dirty="0">
                <a:ea typeface="+mn-lt"/>
                <a:cs typeface="+mn-lt"/>
              </a:rPr>
              <a:t>lazy loading / error boundaries</a:t>
            </a:r>
            <a:r>
              <a:rPr lang="en-US" dirty="0">
                <a:ea typeface="+mn-lt"/>
                <a:cs typeface="+mn-lt"/>
              </a:rPr>
              <a:t> for MFEs</a:t>
            </a:r>
            <a:endParaRPr lang="en-US"/>
          </a:p>
          <a:p>
            <a:pPr>
              <a:buFont typeface="Arial"/>
              <a:buChar char="•"/>
            </a:pPr>
            <a:r>
              <a:rPr lang="en-US" dirty="0">
                <a:ea typeface="+mn-lt"/>
                <a:cs typeface="+mn-lt"/>
              </a:rPr>
              <a:t>Provides </a:t>
            </a:r>
            <a:r>
              <a:rPr lang="en-US" b="1" dirty="0">
                <a:ea typeface="+mn-lt"/>
                <a:cs typeface="+mn-lt"/>
              </a:rPr>
              <a:t>shared dependencies</a:t>
            </a:r>
            <a:r>
              <a:rPr lang="en-US" dirty="0">
                <a:ea typeface="+mn-lt"/>
                <a:cs typeface="+mn-lt"/>
              </a:rPr>
              <a:t> (React, React DOM, Ant Design, etc.)</a:t>
            </a:r>
            <a:endParaRPr lang="en-US"/>
          </a:p>
          <a:p>
            <a:pPr>
              <a:buFont typeface="Arial"/>
              <a:buChar char="•"/>
            </a:pPr>
            <a:r>
              <a:rPr lang="en-US" dirty="0">
                <a:ea typeface="+mn-lt"/>
                <a:cs typeface="+mn-lt"/>
              </a:rPr>
              <a:t>Handles </a:t>
            </a:r>
            <a:r>
              <a:rPr lang="en-US" b="1" dirty="0">
                <a:ea typeface="+mn-lt"/>
                <a:cs typeface="+mn-lt"/>
              </a:rPr>
              <a:t>authentication guards / route protection</a:t>
            </a:r>
            <a:r>
              <a:rPr lang="en-US" dirty="0">
                <a:ea typeface="+mn-lt"/>
                <a:cs typeface="+mn-lt"/>
              </a:rPr>
              <a:t> (if required)</a:t>
            </a:r>
            <a:endParaRPr lang="en-US"/>
          </a:p>
          <a:p>
            <a:pPr>
              <a:buFont typeface="Arial"/>
              <a:buChar char="•"/>
            </a:pPr>
            <a:r>
              <a:rPr lang="en-US" dirty="0">
                <a:ea typeface="+mn-lt"/>
                <a:cs typeface="+mn-lt"/>
              </a:rPr>
              <a:t>Responsible for </a:t>
            </a:r>
            <a:r>
              <a:rPr lang="en-US" b="1" dirty="0">
                <a:ea typeface="+mn-lt"/>
                <a:cs typeface="+mn-lt"/>
              </a:rPr>
              <a:t>deployment orchestration</a:t>
            </a:r>
            <a:r>
              <a:rPr lang="en-US" dirty="0">
                <a:ea typeface="+mn-lt"/>
                <a:cs typeface="+mn-lt"/>
              </a:rPr>
              <a:t> (loading correct remote URLs)</a:t>
            </a:r>
            <a:endParaRPr lang="en-US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63766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F47D9D-4D27-8161-9DB8-9312E77EA4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400" b="1" dirty="0">
                <a:solidFill>
                  <a:schemeClr val="tx2">
                    <a:lumMod val="49000"/>
                    <a:lumOff val="51000"/>
                  </a:schemeClr>
                </a:solidFill>
                <a:latin typeface="Aptos"/>
              </a:rPr>
              <a:t>user-list-micro-frontend</a:t>
            </a:r>
            <a:endParaRPr lang="en-US" dirty="0">
              <a:solidFill>
                <a:schemeClr val="tx2">
                  <a:lumMod val="49000"/>
                  <a:lumOff val="51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D5BD03-BC44-AF93-035B-26F86C0A58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 fontScale="85000" lnSpcReduction="20000"/>
          </a:bodyPr>
          <a:lstStyle/>
          <a:p>
            <a:endParaRPr lang="en-US" b="1" dirty="0"/>
          </a:p>
          <a:p>
            <a:r>
              <a:rPr lang="en-US" dirty="0">
                <a:ea typeface="+mn-lt"/>
                <a:cs typeface="+mn-lt"/>
              </a:rPr>
              <a:t>Fetches user data from REST API (or mock API)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Supports </a:t>
            </a:r>
            <a:r>
              <a:rPr lang="en-US" b="1" dirty="0">
                <a:ea typeface="+mn-lt"/>
                <a:cs typeface="+mn-lt"/>
              </a:rPr>
              <a:t>debounced search</a:t>
            </a:r>
            <a:r>
              <a:rPr lang="en-US" dirty="0">
                <a:ea typeface="+mn-lt"/>
                <a:cs typeface="+mn-lt"/>
              </a:rPr>
              <a:t> for better performance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Implements </a:t>
            </a:r>
            <a:r>
              <a:rPr lang="en-US" b="1" dirty="0">
                <a:ea typeface="+mn-lt"/>
                <a:cs typeface="+mn-lt"/>
              </a:rPr>
              <a:t>pagination and sorting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Emits </a:t>
            </a:r>
            <a:r>
              <a:rPr lang="en-US" b="1" dirty="0">
                <a:ea typeface="+mn-lt"/>
                <a:cs typeface="+mn-lt"/>
              </a:rPr>
              <a:t>custom event</a:t>
            </a:r>
            <a:r>
              <a:rPr lang="en-US" dirty="0">
                <a:ea typeface="+mn-lt"/>
                <a:cs typeface="+mn-lt"/>
              </a:rPr>
              <a:t> (e.g., </a:t>
            </a:r>
            <a:r>
              <a:rPr lang="en-US" dirty="0" err="1">
                <a:latin typeface="Consolas"/>
              </a:rPr>
              <a:t>userSelected</a:t>
            </a:r>
            <a:r>
              <a:rPr lang="en-US" dirty="0">
                <a:ea typeface="+mn-lt"/>
                <a:cs typeface="+mn-lt"/>
              </a:rPr>
              <a:t>) with user ID to shell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Can </a:t>
            </a:r>
            <a:r>
              <a:rPr lang="en-US" b="1" dirty="0">
                <a:ea typeface="+mn-lt"/>
                <a:cs typeface="+mn-lt"/>
              </a:rPr>
              <a:t>cache user data</a:t>
            </a:r>
            <a:r>
              <a:rPr lang="en-US" dirty="0">
                <a:ea typeface="+mn-lt"/>
                <a:cs typeface="+mn-lt"/>
              </a:rPr>
              <a:t> in </a:t>
            </a:r>
            <a:r>
              <a:rPr lang="en-US" dirty="0" err="1">
                <a:latin typeface="Consolas"/>
              </a:rPr>
              <a:t>localStorage</a:t>
            </a:r>
            <a:r>
              <a:rPr lang="en-US" dirty="0">
                <a:ea typeface="+mn-lt"/>
                <a:cs typeface="+mn-lt"/>
              </a:rPr>
              <a:t> for quick reloads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Is fully </a:t>
            </a:r>
            <a:r>
              <a:rPr lang="en-US" b="1" dirty="0">
                <a:ea typeface="+mn-lt"/>
                <a:cs typeface="+mn-lt"/>
              </a:rPr>
              <a:t>independent</a:t>
            </a:r>
            <a:r>
              <a:rPr lang="en-US" dirty="0">
                <a:ea typeface="+mn-lt"/>
                <a:cs typeface="+mn-lt"/>
              </a:rPr>
              <a:t> — can run standalone for development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Handles </a:t>
            </a:r>
            <a:r>
              <a:rPr lang="en-US" b="1" dirty="0">
                <a:ea typeface="+mn-lt"/>
                <a:cs typeface="+mn-lt"/>
              </a:rPr>
              <a:t>error and loading states</a:t>
            </a:r>
            <a:r>
              <a:rPr lang="en-US" dirty="0">
                <a:ea typeface="+mn-lt"/>
                <a:cs typeface="+mn-lt"/>
              </a:rPr>
              <a:t> gracefully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Optimized with </a:t>
            </a:r>
            <a:r>
              <a:rPr lang="en-US" b="1" dirty="0" err="1">
                <a:ea typeface="+mn-lt"/>
                <a:cs typeface="+mn-lt"/>
              </a:rPr>
              <a:t>React.memo</a:t>
            </a:r>
            <a:r>
              <a:rPr lang="en-US" dirty="0">
                <a:ea typeface="+mn-lt"/>
                <a:cs typeface="+mn-lt"/>
              </a:rPr>
              <a:t> and </a:t>
            </a:r>
            <a:r>
              <a:rPr lang="en-US" b="1" dirty="0" err="1">
                <a:ea typeface="+mn-lt"/>
                <a:cs typeface="+mn-lt"/>
              </a:rPr>
              <a:t>useMemo</a:t>
            </a:r>
            <a:r>
              <a:rPr lang="en-US" dirty="0">
                <a:ea typeface="+mn-lt"/>
                <a:cs typeface="+mn-lt"/>
              </a:rPr>
              <a:t> to prevent re-renders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Uses </a:t>
            </a:r>
            <a:r>
              <a:rPr lang="en-US" b="1" dirty="0">
                <a:ea typeface="+mn-lt"/>
                <a:cs typeface="+mn-lt"/>
              </a:rPr>
              <a:t>environment variables</a:t>
            </a:r>
            <a:r>
              <a:rPr lang="en-US" dirty="0">
                <a:ea typeface="+mn-lt"/>
                <a:cs typeface="+mn-lt"/>
              </a:rPr>
              <a:t> for configurable API endpoints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Contains </a:t>
            </a:r>
            <a:r>
              <a:rPr lang="en-US" b="1" dirty="0">
                <a:ea typeface="+mn-lt"/>
                <a:cs typeface="+mn-lt"/>
              </a:rPr>
              <a:t>unit tests</a:t>
            </a:r>
            <a:r>
              <a:rPr lang="en-US" dirty="0">
                <a:ea typeface="+mn-lt"/>
                <a:cs typeface="+mn-lt"/>
              </a:rPr>
              <a:t> for filtering, pagination, and event dispatch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66377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46C2C9-735B-F133-A22D-507A75C2F1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 b="1" dirty="0">
                <a:solidFill>
                  <a:schemeClr val="tx2">
                    <a:lumMod val="49000"/>
                    <a:lumOff val="51000"/>
                  </a:schemeClr>
                </a:solidFill>
                <a:ea typeface="+mj-lt"/>
                <a:cs typeface="+mj-lt"/>
              </a:rPr>
              <a:t>user-details-micro-frontend</a:t>
            </a:r>
            <a:endParaRPr lang="en-US" sz="2800" dirty="0">
              <a:solidFill>
                <a:schemeClr val="tx2">
                  <a:lumMod val="49000"/>
                  <a:lumOff val="51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7308EE-4069-E39B-D773-C61BAB6FE8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 lnSpcReduction="10000"/>
          </a:bodyPr>
          <a:lstStyle/>
          <a:p>
            <a:r>
              <a:rPr lang="en-US" dirty="0">
                <a:ea typeface="+mn-lt"/>
                <a:cs typeface="+mn-lt"/>
              </a:rPr>
              <a:t>Listens for </a:t>
            </a:r>
            <a:r>
              <a:rPr lang="en-US" b="1" dirty="0">
                <a:ea typeface="+mn-lt"/>
                <a:cs typeface="+mn-lt"/>
              </a:rPr>
              <a:t>custom event (</a:t>
            </a:r>
            <a:r>
              <a:rPr lang="en-US" b="1" dirty="0" err="1">
                <a:latin typeface="Consolas"/>
              </a:rPr>
              <a:t>userSelected</a:t>
            </a:r>
            <a:r>
              <a:rPr lang="en-US" b="1" dirty="0">
                <a:ea typeface="+mn-lt"/>
                <a:cs typeface="+mn-lt"/>
              </a:rPr>
              <a:t>)</a:t>
            </a:r>
            <a:r>
              <a:rPr lang="en-US" dirty="0">
                <a:ea typeface="+mn-lt"/>
                <a:cs typeface="+mn-lt"/>
              </a:rPr>
              <a:t> to load user details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Fetches user details via API or local cache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Displays structured data (profile info, contact, address, etc.)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Persists last-viewed user in </a:t>
            </a:r>
            <a:r>
              <a:rPr lang="en-US" b="1" dirty="0" err="1">
                <a:ea typeface="+mn-lt"/>
                <a:cs typeface="+mn-lt"/>
              </a:rPr>
              <a:t>localStorage</a:t>
            </a:r>
            <a:endParaRPr lang="en-US" dirty="0" err="1"/>
          </a:p>
          <a:p>
            <a:r>
              <a:rPr lang="en-US" dirty="0">
                <a:ea typeface="+mn-lt"/>
                <a:cs typeface="+mn-lt"/>
              </a:rPr>
              <a:t>Manages </a:t>
            </a:r>
            <a:r>
              <a:rPr lang="en-US" b="1" dirty="0">
                <a:ea typeface="+mn-lt"/>
                <a:cs typeface="+mn-lt"/>
              </a:rPr>
              <a:t>own routing</a:t>
            </a:r>
            <a:r>
              <a:rPr lang="en-US" dirty="0">
                <a:ea typeface="+mn-lt"/>
                <a:cs typeface="+mn-lt"/>
              </a:rPr>
              <a:t> (</a:t>
            </a:r>
            <a:r>
              <a:rPr lang="en-US" dirty="0">
                <a:latin typeface="Consolas"/>
              </a:rPr>
              <a:t>/users/:id</a:t>
            </a:r>
            <a:r>
              <a:rPr lang="en-US" dirty="0">
                <a:ea typeface="+mn-lt"/>
                <a:cs typeface="+mn-lt"/>
              </a:rPr>
              <a:t>)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Handles </a:t>
            </a:r>
            <a:r>
              <a:rPr lang="en-US" b="1" dirty="0">
                <a:ea typeface="+mn-lt"/>
                <a:cs typeface="+mn-lt"/>
              </a:rPr>
              <a:t>not-found or invalid user states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Can update </a:t>
            </a:r>
            <a:r>
              <a:rPr lang="en-US" b="1" dirty="0">
                <a:ea typeface="+mn-lt"/>
                <a:cs typeface="+mn-lt"/>
              </a:rPr>
              <a:t>user details</a:t>
            </a:r>
            <a:r>
              <a:rPr lang="en-US" dirty="0">
                <a:ea typeface="+mn-lt"/>
                <a:cs typeface="+mn-lt"/>
              </a:rPr>
              <a:t> (if write access is required)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Includes </a:t>
            </a:r>
            <a:r>
              <a:rPr lang="en-US" b="1" dirty="0">
                <a:ea typeface="+mn-lt"/>
                <a:cs typeface="+mn-lt"/>
              </a:rPr>
              <a:t>loading skeletons</a:t>
            </a:r>
            <a:r>
              <a:rPr lang="en-US" dirty="0">
                <a:ea typeface="+mn-lt"/>
                <a:cs typeface="+mn-lt"/>
              </a:rPr>
              <a:t> for better UX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Completely </a:t>
            </a:r>
            <a:r>
              <a:rPr lang="en-US" b="1" dirty="0">
                <a:ea typeface="+mn-lt"/>
                <a:cs typeface="+mn-lt"/>
              </a:rPr>
              <a:t>isolated build</a:t>
            </a:r>
            <a:r>
              <a:rPr lang="en-US" dirty="0">
                <a:ea typeface="+mn-lt"/>
                <a:cs typeface="+mn-lt"/>
              </a:rPr>
              <a:t> — can be deployed independently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170935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EA2832-461F-1AC5-B905-7C82E6B4F0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b="1" dirty="0">
                <a:solidFill>
                  <a:schemeClr val="tx2">
                    <a:lumMod val="49000"/>
                    <a:lumOff val="51000"/>
                  </a:schemeClr>
                </a:solidFill>
                <a:latin typeface="Aptos"/>
              </a:rPr>
              <a:t>Tech Stack</a:t>
            </a:r>
            <a:endParaRPr lang="en-US" sz="3200" b="1" dirty="0">
              <a:solidFill>
                <a:schemeClr val="tx2">
                  <a:lumMod val="49000"/>
                  <a:lumOff val="51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FF13F3-C6FB-986A-F895-C6E322D038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82750"/>
            <a:ext cx="10515600" cy="4351338"/>
          </a:xfrm>
        </p:spPr>
        <p:txBody>
          <a:bodyPr vert="horz" lIns="91440" tIns="45720" rIns="91440" bIns="45720" rtlCol="0" anchor="t">
            <a:normAutofit fontScale="92500" lnSpcReduction="10000"/>
          </a:bodyPr>
          <a:lstStyle/>
          <a:p>
            <a:pPr marL="0" indent="0">
              <a:buNone/>
            </a:pPr>
            <a:endParaRPr lang="en-US"/>
          </a:p>
          <a:p>
            <a:r>
              <a:rPr lang="en-US" dirty="0">
                <a:ea typeface="+mn-lt"/>
                <a:cs typeface="+mn-lt"/>
              </a:rPr>
              <a:t>Frontend Framework: React 18 + TypeScript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Bundler: Vite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Module Federation Plugin: @originjs/vite-plugin-federation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Routing: React Router v6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Styling: SCSS Modules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State Management: React hooks and props drilling (lightweight communication)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Inter-app Communication: Local Storage + Custom Events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Tooling: </a:t>
            </a:r>
            <a:r>
              <a:rPr lang="en-US" dirty="0" err="1">
                <a:ea typeface="+mn-lt"/>
                <a:cs typeface="+mn-lt"/>
              </a:rPr>
              <a:t>ESLint</a:t>
            </a:r>
            <a:r>
              <a:rPr lang="en-US" dirty="0">
                <a:ea typeface="+mn-lt"/>
                <a:cs typeface="+mn-lt"/>
              </a:rPr>
              <a:t> + Prettier for code quality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22309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8A5157-8F9F-40D4-283B-4AD4958AD8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run?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5E935C-A395-902B-297B-66B15BB19D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42282"/>
            <a:ext cx="10515600" cy="5137149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2600" b="1" dirty="0">
                <a:solidFill>
                  <a:schemeClr val="tx2">
                    <a:lumMod val="49000"/>
                    <a:lumOff val="51000"/>
                  </a:schemeClr>
                </a:solidFill>
              </a:rPr>
              <a:t>dashboard-shell</a:t>
            </a:r>
            <a:endParaRPr lang="en-US" dirty="0">
              <a:solidFill>
                <a:schemeClr val="tx2">
                  <a:lumMod val="49000"/>
                  <a:lumOff val="51000"/>
                </a:schemeClr>
              </a:solidFill>
            </a:endParaRP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2200" b="1" err="1">
                <a:ea typeface="+mn-lt"/>
                <a:cs typeface="+mn-lt"/>
              </a:rPr>
              <a:t>npm</a:t>
            </a:r>
            <a:r>
              <a:rPr lang="en-US" sz="2200" b="1" dirty="0">
                <a:ea typeface="+mn-lt"/>
                <a:cs typeface="+mn-lt"/>
              </a:rPr>
              <a:t> run dev  </a:t>
            </a:r>
            <a:endParaRPr lang="en-US" sz="2200" b="1" dirty="0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1600" b="1" dirty="0"/>
              <a:t>Output: </a:t>
            </a:r>
            <a:r>
              <a:rPr lang="en-US" sz="1600" dirty="0">
                <a:ea typeface="+mn-lt"/>
                <a:cs typeface="+mn-lt"/>
              </a:rPr>
              <a:t> </a:t>
            </a:r>
            <a:r>
              <a:rPr lang="en-US" sz="1600" dirty="0">
                <a:ea typeface="+mn-lt"/>
                <a:cs typeface="+mn-lt"/>
                <a:hlinkClick r:id="rId2"/>
              </a:rPr>
              <a:t>http://localhost:5000/</a:t>
            </a:r>
            <a:endParaRPr lang="en-US" sz="1600" b="1" dirty="0"/>
          </a:p>
          <a:p>
            <a:pPr marL="457200" lvl="1" indent="0">
              <a:buNone/>
            </a:pPr>
            <a:endParaRPr lang="en-US" sz="2200" dirty="0">
              <a:solidFill>
                <a:srgbClr val="000000"/>
              </a:solidFill>
            </a:endParaRPr>
          </a:p>
          <a:p>
            <a:r>
              <a:rPr lang="en-US" sz="2400" b="1" dirty="0">
                <a:solidFill>
                  <a:schemeClr val="tx2">
                    <a:lumMod val="49000"/>
                    <a:lumOff val="51000"/>
                  </a:schemeClr>
                </a:solidFill>
              </a:rPr>
              <a:t>user-list-micro-frontend</a:t>
            </a:r>
            <a:endParaRPr lang="en-US" sz="2600" b="1" dirty="0">
              <a:solidFill>
                <a:schemeClr val="tx2">
                  <a:lumMod val="49000"/>
                  <a:lumOff val="51000"/>
                </a:schemeClr>
              </a:solidFill>
            </a:endParaRP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2000" b="1" dirty="0">
                <a:ea typeface="+mn-lt"/>
                <a:cs typeface="+mn-lt"/>
              </a:rPr>
              <a:t>http-server </a:t>
            </a:r>
            <a:r>
              <a:rPr lang="en-US" sz="2000" b="1" dirty="0" err="1">
                <a:ea typeface="+mn-lt"/>
                <a:cs typeface="+mn-lt"/>
              </a:rPr>
              <a:t>dist</a:t>
            </a:r>
            <a:r>
              <a:rPr lang="en-US" sz="2000" b="1" dirty="0">
                <a:ea typeface="+mn-lt"/>
                <a:cs typeface="+mn-lt"/>
              </a:rPr>
              <a:t> -p 5001 -c-1 –</a:t>
            </a:r>
            <a:r>
              <a:rPr lang="en-US" sz="2000" b="1" dirty="0" err="1">
                <a:ea typeface="+mn-lt"/>
                <a:cs typeface="+mn-lt"/>
              </a:rPr>
              <a:t>cors</a:t>
            </a:r>
            <a:endParaRPr lang="en-US" sz="2000" b="1" dirty="0">
              <a:ea typeface="+mn-lt"/>
              <a:cs typeface="+mn-lt"/>
            </a:endParaRP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1600" b="1" dirty="0"/>
              <a:t>Output: </a:t>
            </a:r>
            <a:r>
              <a:rPr lang="en-US" sz="1600" dirty="0">
                <a:ea typeface="+mn-lt"/>
                <a:cs typeface="+mn-lt"/>
              </a:rPr>
              <a:t>Available on:</a:t>
            </a:r>
            <a:endParaRPr lang="en-US" sz="1600"/>
          </a:p>
          <a:p>
            <a:pPr lvl="2">
              <a:buFont typeface="Wingdings" panose="020B0604020202020204" pitchFamily="34" charset="0"/>
              <a:buChar char="§"/>
            </a:pPr>
            <a:r>
              <a:rPr lang="en-US" sz="1600" dirty="0">
                <a:ea typeface="+mn-lt"/>
                <a:cs typeface="+mn-lt"/>
              </a:rPr>
              <a:t>  </a:t>
            </a:r>
            <a:r>
              <a:rPr lang="en-US" sz="1600" dirty="0">
                <a:ea typeface="+mn-lt"/>
                <a:cs typeface="+mn-lt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http://192.168.1.1:5001</a:t>
            </a:r>
            <a:endParaRPr lang="en-US">
              <a:hlinkClick r:id="rId3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pPr lvl="2">
              <a:buFont typeface="Wingdings" panose="020B0604020202020204" pitchFamily="34" charset="0"/>
              <a:buChar char="§"/>
            </a:pPr>
            <a:r>
              <a:rPr lang="en-US" sz="1600" dirty="0">
                <a:ea typeface="+mn-lt"/>
                <a:cs typeface="+mn-lt"/>
              </a:rPr>
              <a:t>  </a:t>
            </a:r>
            <a:r>
              <a:rPr lang="en-US" sz="1600" dirty="0">
                <a:ea typeface="+mn-lt"/>
                <a:cs typeface="+mn-lt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http://127.0.0.1:5001</a:t>
            </a:r>
            <a:endParaRPr lang="en-US">
              <a:hlinkClick r:id="rId4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pPr lvl="2">
              <a:buFont typeface="Wingdings" panose="020B0604020202020204" pitchFamily="34" charset="0"/>
              <a:buChar char="§"/>
            </a:pPr>
            <a:endParaRPr lang="en-US" sz="1600" dirty="0">
              <a:solidFill>
                <a:schemeClr val="tx2">
                  <a:lumMod val="49000"/>
                  <a:lumOff val="51000"/>
                </a:schemeClr>
              </a:solidFill>
            </a:endParaRPr>
          </a:p>
          <a:p>
            <a:r>
              <a:rPr lang="en-US" sz="2400" b="1" dirty="0">
                <a:solidFill>
                  <a:schemeClr val="tx2">
                    <a:lumMod val="49000"/>
                    <a:lumOff val="51000"/>
                  </a:schemeClr>
                </a:solidFill>
              </a:rPr>
              <a:t>user-details-micro-frontend</a:t>
            </a:r>
            <a:endParaRPr lang="en-US" dirty="0">
              <a:solidFill>
                <a:schemeClr val="tx2">
                  <a:lumMod val="49000"/>
                  <a:lumOff val="51000"/>
                </a:schemeClr>
              </a:solidFill>
            </a:endParaRP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2000" b="1" dirty="0">
                <a:ea typeface="+mn-lt"/>
                <a:cs typeface="+mn-lt"/>
              </a:rPr>
              <a:t>http-server </a:t>
            </a:r>
            <a:r>
              <a:rPr lang="en-US" sz="2000" b="1" dirty="0" err="1">
                <a:ea typeface="+mn-lt"/>
                <a:cs typeface="+mn-lt"/>
              </a:rPr>
              <a:t>dist</a:t>
            </a:r>
            <a:r>
              <a:rPr lang="en-US" sz="2000" b="1" dirty="0">
                <a:ea typeface="+mn-lt"/>
                <a:cs typeface="+mn-lt"/>
              </a:rPr>
              <a:t> -p 5002 -c-1 –</a:t>
            </a:r>
            <a:r>
              <a:rPr lang="en-US" sz="2000" b="1" dirty="0" err="1">
                <a:ea typeface="+mn-lt"/>
                <a:cs typeface="+mn-lt"/>
              </a:rPr>
              <a:t>cors</a:t>
            </a:r>
            <a:endParaRPr lang="en-US" sz="2000" b="1" dirty="0">
              <a:ea typeface="+mn-lt"/>
              <a:cs typeface="+mn-lt"/>
            </a:endParaRPr>
          </a:p>
          <a:p>
            <a:pPr marL="685800" lvl="1">
              <a:spcBef>
                <a:spcPts val="500"/>
              </a:spcBef>
              <a:buFont typeface="Courier New,monospace" panose="020B0604020202020204" pitchFamily="34" charset="0"/>
              <a:buChar char="o"/>
            </a:pPr>
            <a:r>
              <a:rPr lang="en-US" sz="1600" b="1" dirty="0">
                <a:solidFill>
                  <a:srgbClr val="000000"/>
                </a:solidFill>
              </a:rPr>
              <a:t>Output: </a:t>
            </a:r>
            <a:r>
              <a:rPr lang="en-US" sz="1600" dirty="0">
                <a:solidFill>
                  <a:srgbClr val="000000"/>
                </a:solidFill>
                <a:ea typeface="+mn-lt"/>
                <a:cs typeface="+mn-lt"/>
              </a:rPr>
              <a:t>Available on:</a:t>
            </a:r>
          </a:p>
          <a:p>
            <a:pPr lvl="2">
              <a:spcBef>
                <a:spcPts val="500"/>
              </a:spcBef>
              <a:buFont typeface="Wingdings,Sans-Serif" panose="020B0604020202020204" pitchFamily="34" charset="0"/>
              <a:buChar char="§"/>
            </a:pPr>
            <a:r>
              <a:rPr lang="en-US" sz="1600" dirty="0">
                <a:solidFill>
                  <a:srgbClr val="000000"/>
                </a:solidFill>
                <a:ea typeface="+mn-lt"/>
                <a:cs typeface="+mn-lt"/>
              </a:rPr>
              <a:t>  </a:t>
            </a:r>
            <a:r>
              <a:rPr lang="en-US" sz="1600" dirty="0">
                <a:solidFill>
                  <a:srgbClr val="000000"/>
                </a:solidFill>
                <a:ea typeface="+mn-lt"/>
                <a:cs typeface="+mn-lt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http://192.168.1.1:500</a:t>
            </a:r>
            <a:r>
              <a:rPr lang="en-US" sz="1600" dirty="0">
                <a:solidFill>
                  <a:srgbClr val="000000"/>
                </a:solidFill>
                <a:ea typeface="+mn-lt"/>
                <a:cs typeface="+mn-lt"/>
              </a:rPr>
              <a:t>2</a:t>
            </a:r>
          </a:p>
          <a:p>
            <a:pPr lvl="2">
              <a:spcBef>
                <a:spcPts val="500"/>
              </a:spcBef>
              <a:buFont typeface="Wingdings,Sans-Serif" panose="020B0604020202020204" pitchFamily="34" charset="0"/>
              <a:buChar char="§"/>
            </a:pPr>
            <a:r>
              <a:rPr lang="en-US" sz="1600" dirty="0">
                <a:solidFill>
                  <a:srgbClr val="000000"/>
                </a:solidFill>
                <a:ea typeface="+mn-lt"/>
                <a:cs typeface="+mn-lt"/>
              </a:rPr>
              <a:t>  </a:t>
            </a:r>
            <a:r>
              <a:rPr lang="en-US" sz="1600" dirty="0">
                <a:solidFill>
                  <a:srgbClr val="000000"/>
                </a:solidFill>
                <a:ea typeface="+mn-lt"/>
                <a:cs typeface="+mn-lt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http://127.0.0.1:5002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060514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1392D4AA-12FF-F67E-501B-110C6E8443D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65916" y="1246908"/>
            <a:ext cx="10060167" cy="435133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7012BB4-A868-898C-C583-3C18A4C485A7}"/>
              </a:ext>
            </a:extLst>
          </p:cNvPr>
          <p:cNvSpPr txBox="1"/>
          <p:nvPr/>
        </p:nvSpPr>
        <p:spPr>
          <a:xfrm>
            <a:off x="1512098" y="571237"/>
            <a:ext cx="2743200" cy="3657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/>
              <a:t>Home Page</a:t>
            </a:r>
          </a:p>
        </p:txBody>
      </p:sp>
    </p:spTree>
    <p:extLst>
      <p:ext uri="{BB962C8B-B14F-4D97-AF65-F5344CB8AC3E}">
        <p14:creationId xmlns:p14="http://schemas.microsoft.com/office/powerpoint/2010/main" val="21906692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screenshot of a user list&#10;&#10;AI-generated content may be incorrect.">
            <a:extLst>
              <a:ext uri="{FF2B5EF4-FFF2-40B4-BE49-F238E27FC236}">
                <a16:creationId xmlns:a16="http://schemas.microsoft.com/office/drawing/2014/main" id="{D9B877B8-B6C9-FFEF-1E50-4B95B7E06C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588" y="913466"/>
            <a:ext cx="12192000" cy="594995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22B41D3-6573-553E-22B3-86C50F034414}"/>
              </a:ext>
            </a:extLst>
          </p:cNvPr>
          <p:cNvSpPr txBox="1"/>
          <p:nvPr/>
        </p:nvSpPr>
        <p:spPr>
          <a:xfrm>
            <a:off x="840054" y="453629"/>
            <a:ext cx="5286935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/>
              <a:t>User Lists (On click of User List)</a:t>
            </a:r>
          </a:p>
        </p:txBody>
      </p:sp>
    </p:spTree>
    <p:extLst>
      <p:ext uri="{BB962C8B-B14F-4D97-AF65-F5344CB8AC3E}">
        <p14:creationId xmlns:p14="http://schemas.microsoft.com/office/powerpoint/2010/main" val="38335223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F5DDE76D-0038-150F-3027-15EEE00DD5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89081"/>
            <a:ext cx="12192000" cy="606425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B273F01-16EF-6C94-1041-6668DBC1B17A}"/>
              </a:ext>
            </a:extLst>
          </p:cNvPr>
          <p:cNvSpPr txBox="1"/>
          <p:nvPr/>
        </p:nvSpPr>
        <p:spPr>
          <a:xfrm>
            <a:off x="5039" y="257611"/>
            <a:ext cx="4043082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/>
              <a:t>On click of 'User </a:t>
            </a:r>
            <a:r>
              <a:rPr lang="en-US" dirty="0" err="1"/>
              <a:t>Details'button</a:t>
            </a:r>
            <a:endParaRPr lang="en-US" err="1"/>
          </a:p>
        </p:txBody>
      </p:sp>
    </p:spTree>
    <p:extLst>
      <p:ext uri="{BB962C8B-B14F-4D97-AF65-F5344CB8AC3E}">
        <p14:creationId xmlns:p14="http://schemas.microsoft.com/office/powerpoint/2010/main" val="23528767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8061DA-0416-D7EF-65BE-D89BBD04D8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1800" dirty="0"/>
              <a:t>On click of EDIT in 'User Details' section</a:t>
            </a:r>
          </a:p>
        </p:txBody>
      </p:sp>
      <p:pic>
        <p:nvPicPr>
          <p:cNvPr id="4" name="Content Placeholder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CAFEA8A0-9DFB-5E16-145B-DF0FCC503EC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12038" y="1691345"/>
            <a:ext cx="9198708" cy="45192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215529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Widescreen</PresentationFormat>
  <Paragraphs>0</Paragraphs>
  <Slides>11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2" baseType="lpstr">
      <vt:lpstr>office theme</vt:lpstr>
      <vt:lpstr>PowerPoint Presentation</vt:lpstr>
      <vt:lpstr>This repository demonstrates a Micro-Frontend (MFE) architecture using Vite + React 18 + Module Federation.   The project includes three micro apps:</vt:lpstr>
      <vt:lpstr>dashboard-shell</vt:lpstr>
      <vt:lpstr>user-list-micro-frontend</vt:lpstr>
      <vt:lpstr>user-details-micro-frontend</vt:lpstr>
      <vt:lpstr>Tech Stack</vt:lpstr>
      <vt:lpstr>How to run?</vt:lpstr>
      <vt:lpstr>PowerPoint Presentation</vt:lpstr>
      <vt:lpstr>PowerPoint Presentation</vt:lpstr>
      <vt:lpstr>PowerPoint Presentation</vt:lpstr>
      <vt:lpstr>On click of EDIT in 'User Details' section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175</cp:revision>
  <dcterms:created xsi:type="dcterms:W3CDTF">2025-11-09T11:42:07Z</dcterms:created>
  <dcterms:modified xsi:type="dcterms:W3CDTF">2025-11-10T05:32:29Z</dcterms:modified>
</cp:coreProperties>
</file>