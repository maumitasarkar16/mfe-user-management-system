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60" r:id="rId3"/>
    <p:sldId id="257" r:id="rId4"/>
    <p:sldId id="258" r:id="rId5"/>
    <p:sldId id="259" r:id="rId6"/>
    <p:sldId id="261" r:id="rId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625D5F3-DDCE-1FDF-5ABF-2B603269BE8E}" v="78" dt="2025-11-10T05:04:25.375"/>
    <p1510:client id="{FBBF9802-8D48-4786-8A1E-466268931D3E}" v="339" dt="2025-11-09T11:59:58.04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9972" autoAdjust="0"/>
    <p:restoredTop sz="94660"/>
  </p:normalViewPr>
  <p:slideViewPr>
    <p:cSldViewPr snapToGrid="0">
      <p:cViewPr varScale="1">
        <p:scale>
          <a:sx n="86" d="100"/>
          <a:sy n="86" d="100"/>
        </p:scale>
        <p:origin x="96" y="88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microsoft.com/office/2015/10/relationships/revisionInfo" Target="revisionInfo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11/9/2025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538789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11/9/2025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913845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11/9/2025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152452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11/9/2025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309203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11/9/2025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317233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11/9/2025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031255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11/9/2025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638898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11/9/2025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184145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11/9/2025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895827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11/9/2025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290545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11/9/2025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944565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46CE7D5-CF57-46EF-B807-FDD0502418D4}" type="datetimeFigureOut">
              <a:rPr lang="en-US" smtClean="0"/>
              <a:t>11/9/2025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09540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A504A2DE-4EA0-7B9B-D368-F40A9A2FCF63}"/>
              </a:ext>
            </a:extLst>
          </p:cNvPr>
          <p:cNvSpPr/>
          <p:nvPr/>
        </p:nvSpPr>
        <p:spPr>
          <a:xfrm>
            <a:off x="453197" y="582259"/>
            <a:ext cx="11305436" cy="5927214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9BB74274-0CB7-975C-B37F-326867C1E053}"/>
              </a:ext>
            </a:extLst>
          </p:cNvPr>
          <p:cNvSpPr/>
          <p:nvPr/>
        </p:nvSpPr>
        <p:spPr>
          <a:xfrm>
            <a:off x="1007926" y="3433127"/>
            <a:ext cx="3175407" cy="1528899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ea typeface="+mn-lt"/>
                <a:cs typeface="+mn-lt"/>
              </a:rPr>
              <a:t>dashboard-shell</a:t>
            </a:r>
            <a:endParaRPr lang="en-US" dirty="0"/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A8D3A293-2951-1CBD-AF58-1B8A13349B05}"/>
              </a:ext>
            </a:extLst>
          </p:cNvPr>
          <p:cNvSpPr/>
          <p:nvPr/>
        </p:nvSpPr>
        <p:spPr>
          <a:xfrm>
            <a:off x="4515367" y="3433127"/>
            <a:ext cx="3175407" cy="1528899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 dirty="0">
                <a:ea typeface="+mn-lt"/>
                <a:cs typeface="+mn-lt"/>
              </a:rPr>
              <a:t>user-list-micro-frontend</a:t>
            </a:r>
            <a:endParaRPr lang="en-US" dirty="0"/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652AF48C-4501-E91C-09BA-91CDA9B22749}"/>
              </a:ext>
            </a:extLst>
          </p:cNvPr>
          <p:cNvSpPr/>
          <p:nvPr/>
        </p:nvSpPr>
        <p:spPr>
          <a:xfrm>
            <a:off x="8000396" y="3433126"/>
            <a:ext cx="3175407" cy="1528899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 dirty="0">
                <a:ea typeface="+mn-lt"/>
                <a:cs typeface="+mn-lt"/>
              </a:rPr>
              <a:t>user-details-micro-frontend</a:t>
            </a:r>
            <a:endParaRPr lang="en-US" dirty="0">
              <a:solidFill>
                <a:srgbClr val="000000"/>
              </a:solidFill>
              <a:ea typeface="+mn-lt"/>
              <a:cs typeface="+mn-lt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C885395-E4ED-863E-AAC4-E4154545D19A}"/>
              </a:ext>
            </a:extLst>
          </p:cNvPr>
          <p:cNvSpPr txBox="1"/>
          <p:nvPr/>
        </p:nvSpPr>
        <p:spPr>
          <a:xfrm>
            <a:off x="2026210" y="1064094"/>
            <a:ext cx="9141757" cy="64633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n-US" sz="3600" dirty="0">
                <a:ea typeface="+mn-lt"/>
                <a:cs typeface="+mn-lt"/>
              </a:rPr>
              <a:t>user-dashboard-take-home-assignment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B397FAE-0DF8-3D9E-AAEA-97AF8826D753}"/>
              </a:ext>
            </a:extLst>
          </p:cNvPr>
          <p:cNvSpPr txBox="1"/>
          <p:nvPr/>
        </p:nvSpPr>
        <p:spPr>
          <a:xfrm>
            <a:off x="1226356" y="4973062"/>
            <a:ext cx="2743200" cy="1477328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dirty="0">
                <a:ea typeface="+mn-lt"/>
                <a:cs typeface="+mn-lt"/>
              </a:rPr>
              <a:t>-  Vite config</a:t>
            </a:r>
            <a:endParaRPr lang="en-US" dirty="0"/>
          </a:p>
          <a:p>
            <a:pPr marL="285750" indent="-285750">
              <a:buFont typeface="Calibri"/>
              <a:buChar char="-"/>
            </a:pPr>
            <a:r>
              <a:rPr lang="en-US" dirty="0">
                <a:ea typeface="+mn-lt"/>
                <a:cs typeface="+mn-lt"/>
              </a:rPr>
              <a:t>Loads MFE runtime   </a:t>
            </a:r>
            <a:endParaRPr lang="en-US">
              <a:ea typeface="+mn-lt"/>
              <a:cs typeface="+mn-lt"/>
            </a:endParaRPr>
          </a:p>
          <a:p>
            <a:pPr marL="285750" indent="-285750">
              <a:buFont typeface="Calibri"/>
              <a:buChar char="-"/>
            </a:pPr>
            <a:r>
              <a:rPr lang="en-US" dirty="0">
                <a:ea typeface="+mn-lt"/>
                <a:cs typeface="+mn-lt"/>
              </a:rPr>
              <a:t>Registers MFEs</a:t>
            </a:r>
          </a:p>
          <a:p>
            <a:pPr marL="285750" indent="-285750">
              <a:buFont typeface="Calibri"/>
              <a:buChar char="-"/>
            </a:pPr>
            <a:r>
              <a:rPr lang="en-US" dirty="0">
                <a:ea typeface="+mn-lt"/>
                <a:cs typeface="+mn-lt"/>
              </a:rPr>
              <a:t>Handles global routing </a:t>
            </a:r>
          </a:p>
          <a:p>
            <a:pPr marL="285750" indent="-285750">
              <a:buFont typeface="Calibri"/>
              <a:buChar char="-"/>
            </a:pPr>
            <a:endParaRPr 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F2BF5F1-0573-740C-FB4B-9BAE4AE64AA4}"/>
              </a:ext>
            </a:extLst>
          </p:cNvPr>
          <p:cNvSpPr txBox="1"/>
          <p:nvPr/>
        </p:nvSpPr>
        <p:spPr>
          <a:xfrm>
            <a:off x="4978658" y="4939476"/>
            <a:ext cx="2722147" cy="1477328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dirty="0">
                <a:solidFill>
                  <a:srgbClr val="000000"/>
                </a:solidFill>
                <a:latin typeface="Aptos"/>
              </a:rPr>
              <a:t>Route path="/users"</a:t>
            </a:r>
            <a:endParaRPr lang="en-US" dirty="0"/>
          </a:p>
          <a:p>
            <a:pPr algn="l"/>
            <a:endParaRPr lang="en-US" dirty="0"/>
          </a:p>
          <a:p>
            <a:pPr marL="285750" indent="-285750">
              <a:buFont typeface="Calibri"/>
              <a:buChar char="-"/>
            </a:pPr>
            <a:r>
              <a:rPr lang="en-US" dirty="0" err="1"/>
              <a:t>VIte</a:t>
            </a:r>
            <a:r>
              <a:rPr lang="en-US" dirty="0"/>
              <a:t> Config</a:t>
            </a:r>
          </a:p>
          <a:p>
            <a:pPr marL="285750" indent="-285750">
              <a:buFont typeface="Calibri"/>
              <a:buChar char="-"/>
            </a:pPr>
            <a:r>
              <a:rPr lang="en-US" dirty="0"/>
              <a:t>Manage internal states</a:t>
            </a:r>
          </a:p>
          <a:p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A0C5AE4-6692-3D15-D7F9-4B50F6646DEF}"/>
              </a:ext>
            </a:extLst>
          </p:cNvPr>
          <p:cNvSpPr txBox="1"/>
          <p:nvPr/>
        </p:nvSpPr>
        <p:spPr>
          <a:xfrm>
            <a:off x="8474893" y="4939477"/>
            <a:ext cx="2935059" cy="1477328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dirty="0">
                <a:solidFill>
                  <a:srgbClr val="000000"/>
                </a:solidFill>
                <a:latin typeface="Aptos"/>
              </a:rPr>
              <a:t>Route path="/users/:id"</a:t>
            </a:r>
            <a:endParaRPr lang="en-US" dirty="0"/>
          </a:p>
          <a:p>
            <a:pPr algn="l"/>
            <a:endParaRPr lang="en-US" dirty="0"/>
          </a:p>
          <a:p>
            <a:pPr marL="285750" indent="-285750">
              <a:buFont typeface="Calibri"/>
              <a:buChar char="-"/>
            </a:pPr>
            <a:r>
              <a:rPr lang="en-US" dirty="0"/>
              <a:t>Vite Config</a:t>
            </a:r>
          </a:p>
          <a:p>
            <a:pPr marL="285750" indent="-285750">
              <a:buFont typeface="Calibri"/>
              <a:buChar char="-"/>
            </a:pPr>
            <a:r>
              <a:rPr lang="en-US" dirty="0"/>
              <a:t>Manage internal states</a:t>
            </a:r>
          </a:p>
          <a:p>
            <a:endParaRPr lang="en-US" dirty="0"/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E9ECA125-CE13-4C76-2649-802F5D1696D5}"/>
              </a:ext>
            </a:extLst>
          </p:cNvPr>
          <p:cNvCxnSpPr/>
          <p:nvPr/>
        </p:nvCxnSpPr>
        <p:spPr>
          <a:xfrm>
            <a:off x="2268148" y="2520165"/>
            <a:ext cx="16808" cy="80645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8E6E7B37-B340-CF3D-69F5-8CB0128C0B70}"/>
              </a:ext>
            </a:extLst>
          </p:cNvPr>
          <p:cNvCxnSpPr/>
          <p:nvPr/>
        </p:nvCxnSpPr>
        <p:spPr>
          <a:xfrm>
            <a:off x="2217744" y="2486562"/>
            <a:ext cx="7493289" cy="16808"/>
          </a:xfrm>
          <a:prstGeom prst="straightConnector1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911B0793-704D-876A-545C-63A99F14512D}"/>
              </a:ext>
            </a:extLst>
          </p:cNvPr>
          <p:cNvCxnSpPr/>
          <p:nvPr/>
        </p:nvCxnSpPr>
        <p:spPr>
          <a:xfrm>
            <a:off x="9660631" y="2503364"/>
            <a:ext cx="33602" cy="84005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8540AE48-3127-05E8-11AA-B4B16EBA5052}"/>
              </a:ext>
            </a:extLst>
          </p:cNvPr>
          <p:cNvCxnSpPr/>
          <p:nvPr/>
        </p:nvCxnSpPr>
        <p:spPr>
          <a:xfrm>
            <a:off x="5863583" y="2469761"/>
            <a:ext cx="16808" cy="89045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F603C0FB-B4B2-EBE2-6008-39F149810A6A}"/>
              </a:ext>
            </a:extLst>
          </p:cNvPr>
          <p:cNvSpPr txBox="1"/>
          <p:nvPr/>
        </p:nvSpPr>
        <p:spPr>
          <a:xfrm>
            <a:off x="3970669" y="2234498"/>
            <a:ext cx="4749053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i="1" dirty="0"/>
              <a:t>Communicate via Custom Event Handlers</a:t>
            </a:r>
          </a:p>
        </p:txBody>
      </p:sp>
      <p:sp>
        <p:nvSpPr>
          <p:cNvPr id="17" name="Cylinder 16">
            <a:extLst>
              <a:ext uri="{FF2B5EF4-FFF2-40B4-BE49-F238E27FC236}">
                <a16:creationId xmlns:a16="http://schemas.microsoft.com/office/drawing/2014/main" id="{2EF94A25-29FF-CC0D-71E7-7B7A8E1480E4}"/>
              </a:ext>
            </a:extLst>
          </p:cNvPr>
          <p:cNvSpPr/>
          <p:nvPr/>
        </p:nvSpPr>
        <p:spPr>
          <a:xfrm>
            <a:off x="10337994" y="1898508"/>
            <a:ext cx="1260358" cy="1041699"/>
          </a:xfrm>
          <a:prstGeom prst="can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err="1"/>
              <a:t>localstorage</a:t>
            </a:r>
            <a:endParaRPr lang="en-US" sz="1400"/>
          </a:p>
        </p:txBody>
      </p:sp>
    </p:spTree>
    <p:extLst>
      <p:ext uri="{BB962C8B-B14F-4D97-AF65-F5344CB8AC3E}">
        <p14:creationId xmlns:p14="http://schemas.microsoft.com/office/powerpoint/2010/main" val="10985722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A2C440-E2FC-1293-0226-457D91A5AC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sz="2800" dirty="0">
                <a:solidFill>
                  <a:schemeClr val="tx2">
                    <a:lumMod val="49000"/>
                    <a:lumOff val="51000"/>
                  </a:schemeClr>
                </a:solidFill>
                <a:latin typeface="Aptos"/>
              </a:rPr>
              <a:t>This repository demonstrates a Micro-Frontend (MFE) architecture using Vite + React 18 + Module Federation. </a:t>
            </a:r>
            <a:br>
              <a:rPr lang="en-US" sz="2800" dirty="0">
                <a:solidFill>
                  <a:schemeClr val="tx2">
                    <a:lumMod val="49000"/>
                    <a:lumOff val="51000"/>
                  </a:schemeClr>
                </a:solidFill>
                <a:latin typeface="Aptos"/>
              </a:rPr>
            </a:br>
            <a:br>
              <a:rPr lang="en-US" sz="2800" dirty="0">
                <a:solidFill>
                  <a:schemeClr val="tx2">
                    <a:lumMod val="49000"/>
                    <a:lumOff val="51000"/>
                  </a:schemeClr>
                </a:solidFill>
                <a:latin typeface="Aptos"/>
              </a:rPr>
            </a:br>
            <a:r>
              <a:rPr lang="en-US" sz="2800" dirty="0">
                <a:solidFill>
                  <a:schemeClr val="tx2">
                    <a:lumMod val="49000"/>
                    <a:lumOff val="51000"/>
                  </a:schemeClr>
                </a:solidFill>
                <a:latin typeface="Aptos"/>
              </a:rPr>
              <a:t>The project includes three micro apps:</a:t>
            </a:r>
            <a:endParaRPr lang="en-US" dirty="0">
              <a:solidFill>
                <a:schemeClr val="tx2">
                  <a:lumMod val="49000"/>
                  <a:lumOff val="51000"/>
                </a:schemeClr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E7EC3DC-310F-47CF-D577-CC6B3916EEC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endParaRPr lang="en-US"/>
          </a:p>
          <a:p>
            <a:r>
              <a:rPr lang="en-US" b="1" dirty="0">
                <a:ea typeface="+mn-lt"/>
                <a:cs typeface="+mn-lt"/>
              </a:rPr>
              <a:t>Shell</a:t>
            </a:r>
            <a:r>
              <a:rPr lang="en-US" dirty="0">
                <a:ea typeface="+mn-lt"/>
                <a:cs typeface="+mn-lt"/>
              </a:rPr>
              <a:t>:  Main container with navigation. The main host application.</a:t>
            </a:r>
            <a:endParaRPr lang="en-US" dirty="0"/>
          </a:p>
          <a:p>
            <a:r>
              <a:rPr lang="en-US" b="1" dirty="0" err="1">
                <a:ea typeface="+mn-lt"/>
                <a:cs typeface="+mn-lt"/>
              </a:rPr>
              <a:t>UserList</a:t>
            </a:r>
            <a:r>
              <a:rPr lang="en-US" b="1" dirty="0">
                <a:ea typeface="+mn-lt"/>
                <a:cs typeface="+mn-lt"/>
              </a:rPr>
              <a:t> MFE</a:t>
            </a:r>
            <a:r>
              <a:rPr lang="en-US" dirty="0">
                <a:ea typeface="+mn-lt"/>
                <a:cs typeface="+mn-lt"/>
              </a:rPr>
              <a:t>:  Displays paginated user list with search.</a:t>
            </a:r>
            <a:endParaRPr lang="en-US" dirty="0"/>
          </a:p>
          <a:p>
            <a:r>
              <a:rPr lang="en-US" b="1" dirty="0" err="1">
                <a:ea typeface="+mn-lt"/>
                <a:cs typeface="+mn-lt"/>
              </a:rPr>
              <a:t>UserDetails</a:t>
            </a:r>
            <a:r>
              <a:rPr lang="en-US" b="1" dirty="0">
                <a:ea typeface="+mn-lt"/>
                <a:cs typeface="+mn-lt"/>
              </a:rPr>
              <a:t> MFE</a:t>
            </a:r>
            <a:r>
              <a:rPr lang="en-US" dirty="0">
                <a:ea typeface="+mn-lt"/>
                <a:cs typeface="+mn-lt"/>
              </a:rPr>
              <a:t>:  Displays selected user details. Shows detailed information of a selected user.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2317964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FD6DAB-F072-E57A-7DF4-492F3E58A4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600" b="1" dirty="0">
                <a:solidFill>
                  <a:schemeClr val="tx2">
                    <a:lumMod val="49000"/>
                    <a:lumOff val="51000"/>
                  </a:schemeClr>
                </a:solidFill>
                <a:latin typeface="Aptos"/>
              </a:rPr>
              <a:t>dashboard-shell</a:t>
            </a:r>
            <a:endParaRPr lang="en-US" dirty="0">
              <a:solidFill>
                <a:schemeClr val="tx2">
                  <a:lumMod val="49000"/>
                  <a:lumOff val="51000"/>
                </a:schemeClr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315D025-AF52-C3DA-3DD3-8C0306AAC03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 fontScale="92500" lnSpcReduction="20000"/>
          </a:bodyPr>
          <a:lstStyle/>
          <a:p>
            <a:pPr>
              <a:buNone/>
            </a:pPr>
            <a:endParaRPr lang="en-US" b="1" dirty="0"/>
          </a:p>
          <a:p>
            <a:pPr>
              <a:buFont typeface="Arial"/>
              <a:buChar char="•"/>
            </a:pPr>
            <a:r>
              <a:rPr lang="en-US" dirty="0">
                <a:ea typeface="+mn-lt"/>
                <a:cs typeface="+mn-lt"/>
              </a:rPr>
              <a:t>Hosts the root-level router (e.g. React Router or custom navigation)</a:t>
            </a:r>
            <a:endParaRPr lang="en-US" dirty="0"/>
          </a:p>
          <a:p>
            <a:pPr>
              <a:buFont typeface="Arial"/>
              <a:buChar char="•"/>
            </a:pPr>
            <a:r>
              <a:rPr lang="en-US" dirty="0">
                <a:ea typeface="+mn-lt"/>
                <a:cs typeface="+mn-lt"/>
              </a:rPr>
              <a:t>Dynamically loads micro-frontends via </a:t>
            </a:r>
            <a:r>
              <a:rPr lang="en-US" b="1" dirty="0">
                <a:ea typeface="+mn-lt"/>
                <a:cs typeface="+mn-lt"/>
              </a:rPr>
              <a:t>Module Federation</a:t>
            </a:r>
            <a:endParaRPr lang="en-US"/>
          </a:p>
          <a:p>
            <a:pPr>
              <a:buFont typeface="Arial"/>
              <a:buChar char="•"/>
            </a:pPr>
            <a:r>
              <a:rPr lang="en-US" dirty="0">
                <a:ea typeface="+mn-lt"/>
                <a:cs typeface="+mn-lt"/>
              </a:rPr>
              <a:t>Will manage </a:t>
            </a:r>
            <a:r>
              <a:rPr lang="en-US" b="1" dirty="0">
                <a:ea typeface="+mn-lt"/>
                <a:cs typeface="+mn-lt"/>
              </a:rPr>
              <a:t>global application state</a:t>
            </a:r>
            <a:r>
              <a:rPr lang="en-US" dirty="0">
                <a:ea typeface="+mn-lt"/>
                <a:cs typeface="+mn-lt"/>
              </a:rPr>
              <a:t> (theme, authentication, etc.)</a:t>
            </a:r>
            <a:endParaRPr lang="en-US"/>
          </a:p>
          <a:p>
            <a:pPr>
              <a:buFont typeface="Arial"/>
              <a:buChar char="•"/>
            </a:pPr>
            <a:r>
              <a:rPr lang="en-US" dirty="0">
                <a:ea typeface="+mn-lt"/>
                <a:cs typeface="+mn-lt"/>
              </a:rPr>
              <a:t>Handles </a:t>
            </a:r>
            <a:r>
              <a:rPr lang="en-US" b="1" dirty="0">
                <a:ea typeface="+mn-lt"/>
                <a:cs typeface="+mn-lt"/>
              </a:rPr>
              <a:t>cross-MFE communication</a:t>
            </a:r>
            <a:r>
              <a:rPr lang="en-US" dirty="0">
                <a:ea typeface="+mn-lt"/>
                <a:cs typeface="+mn-lt"/>
              </a:rPr>
              <a:t> through custom events</a:t>
            </a:r>
            <a:endParaRPr lang="en-US"/>
          </a:p>
          <a:p>
            <a:pPr>
              <a:buFont typeface="Arial"/>
              <a:buChar char="•"/>
            </a:pPr>
            <a:r>
              <a:rPr lang="en-US" dirty="0">
                <a:ea typeface="+mn-lt"/>
                <a:cs typeface="+mn-lt"/>
              </a:rPr>
              <a:t>Persists selected user info or app state in </a:t>
            </a:r>
            <a:r>
              <a:rPr lang="en-US" b="1" dirty="0" err="1">
                <a:ea typeface="+mn-lt"/>
                <a:cs typeface="+mn-lt"/>
              </a:rPr>
              <a:t>localStorage</a:t>
            </a:r>
            <a:endParaRPr lang="en-US"/>
          </a:p>
          <a:p>
            <a:pPr>
              <a:buFont typeface="Arial"/>
              <a:buChar char="•"/>
            </a:pPr>
            <a:r>
              <a:rPr lang="en-US" dirty="0">
                <a:ea typeface="+mn-lt"/>
                <a:cs typeface="+mn-lt"/>
              </a:rPr>
              <a:t>Manages </a:t>
            </a:r>
            <a:r>
              <a:rPr lang="en-US" b="1" dirty="0">
                <a:ea typeface="+mn-lt"/>
                <a:cs typeface="+mn-lt"/>
              </a:rPr>
              <a:t>lazy loading / error boundaries</a:t>
            </a:r>
            <a:r>
              <a:rPr lang="en-US" dirty="0">
                <a:ea typeface="+mn-lt"/>
                <a:cs typeface="+mn-lt"/>
              </a:rPr>
              <a:t> for MFEs</a:t>
            </a:r>
            <a:endParaRPr lang="en-US"/>
          </a:p>
          <a:p>
            <a:pPr>
              <a:buFont typeface="Arial"/>
              <a:buChar char="•"/>
            </a:pPr>
            <a:r>
              <a:rPr lang="en-US" dirty="0">
                <a:ea typeface="+mn-lt"/>
                <a:cs typeface="+mn-lt"/>
              </a:rPr>
              <a:t>Provides </a:t>
            </a:r>
            <a:r>
              <a:rPr lang="en-US" b="1" dirty="0">
                <a:ea typeface="+mn-lt"/>
                <a:cs typeface="+mn-lt"/>
              </a:rPr>
              <a:t>shared dependencies</a:t>
            </a:r>
            <a:r>
              <a:rPr lang="en-US" dirty="0">
                <a:ea typeface="+mn-lt"/>
                <a:cs typeface="+mn-lt"/>
              </a:rPr>
              <a:t> (React, React DOM, Ant Design, etc.)</a:t>
            </a:r>
            <a:endParaRPr lang="en-US"/>
          </a:p>
          <a:p>
            <a:pPr>
              <a:buFont typeface="Arial"/>
              <a:buChar char="•"/>
            </a:pPr>
            <a:r>
              <a:rPr lang="en-US" dirty="0">
                <a:ea typeface="+mn-lt"/>
                <a:cs typeface="+mn-lt"/>
              </a:rPr>
              <a:t>Handles </a:t>
            </a:r>
            <a:r>
              <a:rPr lang="en-US" b="1" dirty="0">
                <a:ea typeface="+mn-lt"/>
                <a:cs typeface="+mn-lt"/>
              </a:rPr>
              <a:t>authentication guards / route protection</a:t>
            </a:r>
            <a:r>
              <a:rPr lang="en-US" dirty="0">
                <a:ea typeface="+mn-lt"/>
                <a:cs typeface="+mn-lt"/>
              </a:rPr>
              <a:t> (if required)</a:t>
            </a:r>
            <a:endParaRPr lang="en-US"/>
          </a:p>
          <a:p>
            <a:pPr>
              <a:buFont typeface="Arial"/>
              <a:buChar char="•"/>
            </a:pPr>
            <a:r>
              <a:rPr lang="en-US" dirty="0">
                <a:ea typeface="+mn-lt"/>
                <a:cs typeface="+mn-lt"/>
              </a:rPr>
              <a:t>Responsible for </a:t>
            </a:r>
            <a:r>
              <a:rPr lang="en-US" b="1" dirty="0">
                <a:ea typeface="+mn-lt"/>
                <a:cs typeface="+mn-lt"/>
              </a:rPr>
              <a:t>deployment orchestration</a:t>
            </a:r>
            <a:r>
              <a:rPr lang="en-US" dirty="0">
                <a:ea typeface="+mn-lt"/>
                <a:cs typeface="+mn-lt"/>
              </a:rPr>
              <a:t> (loading correct remote URLs)</a:t>
            </a:r>
            <a:endParaRPr lang="en-US"/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3637660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F47D9D-4D27-8161-9DB8-9312E77EA4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2400" b="1" dirty="0">
                <a:solidFill>
                  <a:schemeClr val="tx2">
                    <a:lumMod val="49000"/>
                    <a:lumOff val="51000"/>
                  </a:schemeClr>
                </a:solidFill>
                <a:latin typeface="Aptos"/>
              </a:rPr>
              <a:t>user-list-micro-frontend</a:t>
            </a:r>
            <a:endParaRPr lang="en-US" dirty="0">
              <a:solidFill>
                <a:schemeClr val="tx2">
                  <a:lumMod val="49000"/>
                  <a:lumOff val="51000"/>
                </a:schemeClr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2D5BD03-BC44-AF93-035B-26F86C0A58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 fontScale="85000" lnSpcReduction="20000"/>
          </a:bodyPr>
          <a:lstStyle/>
          <a:p>
            <a:endParaRPr lang="en-US" b="1" dirty="0"/>
          </a:p>
          <a:p>
            <a:r>
              <a:rPr lang="en-US" dirty="0">
                <a:ea typeface="+mn-lt"/>
                <a:cs typeface="+mn-lt"/>
              </a:rPr>
              <a:t>Fetches user data from REST API (or mock API)</a:t>
            </a:r>
            <a:endParaRPr lang="en-US" dirty="0"/>
          </a:p>
          <a:p>
            <a:r>
              <a:rPr lang="en-US" dirty="0">
                <a:ea typeface="+mn-lt"/>
                <a:cs typeface="+mn-lt"/>
              </a:rPr>
              <a:t>Supports </a:t>
            </a:r>
            <a:r>
              <a:rPr lang="en-US" b="1" dirty="0">
                <a:ea typeface="+mn-lt"/>
                <a:cs typeface="+mn-lt"/>
              </a:rPr>
              <a:t>debounced search</a:t>
            </a:r>
            <a:r>
              <a:rPr lang="en-US" dirty="0">
                <a:ea typeface="+mn-lt"/>
                <a:cs typeface="+mn-lt"/>
              </a:rPr>
              <a:t> for better performance</a:t>
            </a:r>
            <a:endParaRPr lang="en-US" dirty="0"/>
          </a:p>
          <a:p>
            <a:r>
              <a:rPr lang="en-US" dirty="0">
                <a:ea typeface="+mn-lt"/>
                <a:cs typeface="+mn-lt"/>
              </a:rPr>
              <a:t>Implements </a:t>
            </a:r>
            <a:r>
              <a:rPr lang="en-US" b="1" dirty="0">
                <a:ea typeface="+mn-lt"/>
                <a:cs typeface="+mn-lt"/>
              </a:rPr>
              <a:t>pagination and sorting</a:t>
            </a:r>
            <a:endParaRPr lang="en-US" dirty="0"/>
          </a:p>
          <a:p>
            <a:r>
              <a:rPr lang="en-US" dirty="0">
                <a:ea typeface="+mn-lt"/>
                <a:cs typeface="+mn-lt"/>
              </a:rPr>
              <a:t>Emits </a:t>
            </a:r>
            <a:r>
              <a:rPr lang="en-US" b="1" dirty="0">
                <a:ea typeface="+mn-lt"/>
                <a:cs typeface="+mn-lt"/>
              </a:rPr>
              <a:t>custom event</a:t>
            </a:r>
            <a:r>
              <a:rPr lang="en-US" dirty="0">
                <a:ea typeface="+mn-lt"/>
                <a:cs typeface="+mn-lt"/>
              </a:rPr>
              <a:t> (e.g., </a:t>
            </a:r>
            <a:r>
              <a:rPr lang="en-US" dirty="0" err="1">
                <a:latin typeface="Consolas"/>
              </a:rPr>
              <a:t>userSelected</a:t>
            </a:r>
            <a:r>
              <a:rPr lang="en-US" dirty="0">
                <a:ea typeface="+mn-lt"/>
                <a:cs typeface="+mn-lt"/>
              </a:rPr>
              <a:t>) with user ID to shell</a:t>
            </a:r>
            <a:endParaRPr lang="en-US" dirty="0"/>
          </a:p>
          <a:p>
            <a:r>
              <a:rPr lang="en-US" dirty="0">
                <a:ea typeface="+mn-lt"/>
                <a:cs typeface="+mn-lt"/>
              </a:rPr>
              <a:t>Can </a:t>
            </a:r>
            <a:r>
              <a:rPr lang="en-US" b="1" dirty="0">
                <a:ea typeface="+mn-lt"/>
                <a:cs typeface="+mn-lt"/>
              </a:rPr>
              <a:t>cache user data</a:t>
            </a:r>
            <a:r>
              <a:rPr lang="en-US" dirty="0">
                <a:ea typeface="+mn-lt"/>
                <a:cs typeface="+mn-lt"/>
              </a:rPr>
              <a:t> in </a:t>
            </a:r>
            <a:r>
              <a:rPr lang="en-US" dirty="0" err="1">
                <a:latin typeface="Consolas"/>
              </a:rPr>
              <a:t>localStorage</a:t>
            </a:r>
            <a:r>
              <a:rPr lang="en-US" dirty="0">
                <a:ea typeface="+mn-lt"/>
                <a:cs typeface="+mn-lt"/>
              </a:rPr>
              <a:t> for quick reloads</a:t>
            </a:r>
            <a:endParaRPr lang="en-US" dirty="0"/>
          </a:p>
          <a:p>
            <a:r>
              <a:rPr lang="en-US" dirty="0">
                <a:ea typeface="+mn-lt"/>
                <a:cs typeface="+mn-lt"/>
              </a:rPr>
              <a:t>Is fully </a:t>
            </a:r>
            <a:r>
              <a:rPr lang="en-US" b="1" dirty="0">
                <a:ea typeface="+mn-lt"/>
                <a:cs typeface="+mn-lt"/>
              </a:rPr>
              <a:t>independent</a:t>
            </a:r>
            <a:r>
              <a:rPr lang="en-US" dirty="0">
                <a:ea typeface="+mn-lt"/>
                <a:cs typeface="+mn-lt"/>
              </a:rPr>
              <a:t> — can run standalone for development</a:t>
            </a:r>
            <a:endParaRPr lang="en-US" dirty="0"/>
          </a:p>
          <a:p>
            <a:r>
              <a:rPr lang="en-US" dirty="0">
                <a:ea typeface="+mn-lt"/>
                <a:cs typeface="+mn-lt"/>
              </a:rPr>
              <a:t>Handles </a:t>
            </a:r>
            <a:r>
              <a:rPr lang="en-US" b="1" dirty="0">
                <a:ea typeface="+mn-lt"/>
                <a:cs typeface="+mn-lt"/>
              </a:rPr>
              <a:t>error and loading states</a:t>
            </a:r>
            <a:r>
              <a:rPr lang="en-US" dirty="0">
                <a:ea typeface="+mn-lt"/>
                <a:cs typeface="+mn-lt"/>
              </a:rPr>
              <a:t> gracefully</a:t>
            </a:r>
            <a:endParaRPr lang="en-US" dirty="0"/>
          </a:p>
          <a:p>
            <a:r>
              <a:rPr lang="en-US" dirty="0">
                <a:ea typeface="+mn-lt"/>
                <a:cs typeface="+mn-lt"/>
              </a:rPr>
              <a:t>Optimized with </a:t>
            </a:r>
            <a:r>
              <a:rPr lang="en-US" b="1" dirty="0" err="1">
                <a:ea typeface="+mn-lt"/>
                <a:cs typeface="+mn-lt"/>
              </a:rPr>
              <a:t>React.memo</a:t>
            </a:r>
            <a:r>
              <a:rPr lang="en-US" dirty="0">
                <a:ea typeface="+mn-lt"/>
                <a:cs typeface="+mn-lt"/>
              </a:rPr>
              <a:t> and </a:t>
            </a:r>
            <a:r>
              <a:rPr lang="en-US" b="1" dirty="0" err="1">
                <a:ea typeface="+mn-lt"/>
                <a:cs typeface="+mn-lt"/>
              </a:rPr>
              <a:t>useMemo</a:t>
            </a:r>
            <a:r>
              <a:rPr lang="en-US" dirty="0">
                <a:ea typeface="+mn-lt"/>
                <a:cs typeface="+mn-lt"/>
              </a:rPr>
              <a:t> to prevent re-renders</a:t>
            </a:r>
            <a:endParaRPr lang="en-US" dirty="0"/>
          </a:p>
          <a:p>
            <a:r>
              <a:rPr lang="en-US" dirty="0">
                <a:ea typeface="+mn-lt"/>
                <a:cs typeface="+mn-lt"/>
              </a:rPr>
              <a:t>Uses </a:t>
            </a:r>
            <a:r>
              <a:rPr lang="en-US" b="1" dirty="0">
                <a:ea typeface="+mn-lt"/>
                <a:cs typeface="+mn-lt"/>
              </a:rPr>
              <a:t>environment variables</a:t>
            </a:r>
            <a:r>
              <a:rPr lang="en-US" dirty="0">
                <a:ea typeface="+mn-lt"/>
                <a:cs typeface="+mn-lt"/>
              </a:rPr>
              <a:t> for configurable API endpoints</a:t>
            </a:r>
            <a:endParaRPr lang="en-US" dirty="0"/>
          </a:p>
          <a:p>
            <a:r>
              <a:rPr lang="en-US" dirty="0">
                <a:ea typeface="+mn-lt"/>
                <a:cs typeface="+mn-lt"/>
              </a:rPr>
              <a:t>Contains </a:t>
            </a:r>
            <a:r>
              <a:rPr lang="en-US" b="1" dirty="0">
                <a:ea typeface="+mn-lt"/>
                <a:cs typeface="+mn-lt"/>
              </a:rPr>
              <a:t>unit tests</a:t>
            </a:r>
            <a:r>
              <a:rPr lang="en-US" dirty="0">
                <a:ea typeface="+mn-lt"/>
                <a:cs typeface="+mn-lt"/>
              </a:rPr>
              <a:t> for filtering, pagination, and event dispatch</a:t>
            </a: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3663778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46C2C9-735B-F133-A22D-507A75C2F1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2800" b="1" dirty="0">
                <a:solidFill>
                  <a:schemeClr val="tx2">
                    <a:lumMod val="49000"/>
                    <a:lumOff val="51000"/>
                  </a:schemeClr>
                </a:solidFill>
                <a:ea typeface="+mj-lt"/>
                <a:cs typeface="+mj-lt"/>
              </a:rPr>
              <a:t>user-details-micro-frontend</a:t>
            </a:r>
            <a:endParaRPr lang="en-US" sz="2800" dirty="0">
              <a:solidFill>
                <a:schemeClr val="tx2">
                  <a:lumMod val="49000"/>
                  <a:lumOff val="51000"/>
                </a:schemeClr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C7308EE-4069-E39B-D773-C61BAB6FE8B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 lnSpcReduction="10000"/>
          </a:bodyPr>
          <a:lstStyle/>
          <a:p>
            <a:r>
              <a:rPr lang="en-US" dirty="0">
                <a:ea typeface="+mn-lt"/>
                <a:cs typeface="+mn-lt"/>
              </a:rPr>
              <a:t>Listens for </a:t>
            </a:r>
            <a:r>
              <a:rPr lang="en-US" b="1" dirty="0">
                <a:ea typeface="+mn-lt"/>
                <a:cs typeface="+mn-lt"/>
              </a:rPr>
              <a:t>custom event (</a:t>
            </a:r>
            <a:r>
              <a:rPr lang="en-US" b="1" dirty="0" err="1">
                <a:latin typeface="Consolas"/>
              </a:rPr>
              <a:t>userSelected</a:t>
            </a:r>
            <a:r>
              <a:rPr lang="en-US" b="1" dirty="0">
                <a:ea typeface="+mn-lt"/>
                <a:cs typeface="+mn-lt"/>
              </a:rPr>
              <a:t>)</a:t>
            </a:r>
            <a:r>
              <a:rPr lang="en-US" dirty="0">
                <a:ea typeface="+mn-lt"/>
                <a:cs typeface="+mn-lt"/>
              </a:rPr>
              <a:t> to load user details</a:t>
            </a:r>
            <a:endParaRPr lang="en-US" dirty="0"/>
          </a:p>
          <a:p>
            <a:r>
              <a:rPr lang="en-US" dirty="0">
                <a:ea typeface="+mn-lt"/>
                <a:cs typeface="+mn-lt"/>
              </a:rPr>
              <a:t>Fetches user details via API or local cache</a:t>
            </a:r>
            <a:endParaRPr lang="en-US" dirty="0"/>
          </a:p>
          <a:p>
            <a:r>
              <a:rPr lang="en-US" dirty="0">
                <a:ea typeface="+mn-lt"/>
                <a:cs typeface="+mn-lt"/>
              </a:rPr>
              <a:t>Displays structured data (profile info, contact, address, etc.)</a:t>
            </a:r>
            <a:endParaRPr lang="en-US" dirty="0"/>
          </a:p>
          <a:p>
            <a:r>
              <a:rPr lang="en-US" dirty="0">
                <a:ea typeface="+mn-lt"/>
                <a:cs typeface="+mn-lt"/>
              </a:rPr>
              <a:t>Persists last-viewed user in </a:t>
            </a:r>
            <a:r>
              <a:rPr lang="en-US" b="1" dirty="0" err="1">
                <a:ea typeface="+mn-lt"/>
                <a:cs typeface="+mn-lt"/>
              </a:rPr>
              <a:t>localStorage</a:t>
            </a:r>
            <a:endParaRPr lang="en-US" dirty="0" err="1"/>
          </a:p>
          <a:p>
            <a:r>
              <a:rPr lang="en-US" dirty="0">
                <a:ea typeface="+mn-lt"/>
                <a:cs typeface="+mn-lt"/>
              </a:rPr>
              <a:t>Manages </a:t>
            </a:r>
            <a:r>
              <a:rPr lang="en-US" b="1" dirty="0">
                <a:ea typeface="+mn-lt"/>
                <a:cs typeface="+mn-lt"/>
              </a:rPr>
              <a:t>own routing</a:t>
            </a:r>
            <a:r>
              <a:rPr lang="en-US" dirty="0">
                <a:ea typeface="+mn-lt"/>
                <a:cs typeface="+mn-lt"/>
              </a:rPr>
              <a:t> (</a:t>
            </a:r>
            <a:r>
              <a:rPr lang="en-US" dirty="0">
                <a:latin typeface="Consolas"/>
              </a:rPr>
              <a:t>/users/:id</a:t>
            </a:r>
            <a:r>
              <a:rPr lang="en-US" dirty="0">
                <a:ea typeface="+mn-lt"/>
                <a:cs typeface="+mn-lt"/>
              </a:rPr>
              <a:t>)</a:t>
            </a:r>
            <a:endParaRPr lang="en-US" dirty="0"/>
          </a:p>
          <a:p>
            <a:r>
              <a:rPr lang="en-US" dirty="0">
                <a:ea typeface="+mn-lt"/>
                <a:cs typeface="+mn-lt"/>
              </a:rPr>
              <a:t>Handles </a:t>
            </a:r>
            <a:r>
              <a:rPr lang="en-US" b="1" dirty="0">
                <a:ea typeface="+mn-lt"/>
                <a:cs typeface="+mn-lt"/>
              </a:rPr>
              <a:t>not-found or invalid user states</a:t>
            </a:r>
            <a:endParaRPr lang="en-US" dirty="0"/>
          </a:p>
          <a:p>
            <a:r>
              <a:rPr lang="en-US" dirty="0">
                <a:ea typeface="+mn-lt"/>
                <a:cs typeface="+mn-lt"/>
              </a:rPr>
              <a:t>Can update </a:t>
            </a:r>
            <a:r>
              <a:rPr lang="en-US" b="1" dirty="0">
                <a:ea typeface="+mn-lt"/>
                <a:cs typeface="+mn-lt"/>
              </a:rPr>
              <a:t>user details</a:t>
            </a:r>
            <a:r>
              <a:rPr lang="en-US" dirty="0">
                <a:ea typeface="+mn-lt"/>
                <a:cs typeface="+mn-lt"/>
              </a:rPr>
              <a:t> (if write access is required)</a:t>
            </a:r>
            <a:endParaRPr lang="en-US" dirty="0"/>
          </a:p>
          <a:p>
            <a:r>
              <a:rPr lang="en-US" dirty="0">
                <a:ea typeface="+mn-lt"/>
                <a:cs typeface="+mn-lt"/>
              </a:rPr>
              <a:t>Includes </a:t>
            </a:r>
            <a:r>
              <a:rPr lang="en-US" b="1" dirty="0">
                <a:ea typeface="+mn-lt"/>
                <a:cs typeface="+mn-lt"/>
              </a:rPr>
              <a:t>loading skeletons</a:t>
            </a:r>
            <a:r>
              <a:rPr lang="en-US" dirty="0">
                <a:ea typeface="+mn-lt"/>
                <a:cs typeface="+mn-lt"/>
              </a:rPr>
              <a:t> for better UX</a:t>
            </a:r>
            <a:endParaRPr lang="en-US" dirty="0"/>
          </a:p>
          <a:p>
            <a:r>
              <a:rPr lang="en-US" dirty="0">
                <a:ea typeface="+mn-lt"/>
                <a:cs typeface="+mn-lt"/>
              </a:rPr>
              <a:t>Completely </a:t>
            </a:r>
            <a:r>
              <a:rPr lang="en-US" b="1" dirty="0">
                <a:ea typeface="+mn-lt"/>
                <a:cs typeface="+mn-lt"/>
              </a:rPr>
              <a:t>isolated build</a:t>
            </a:r>
            <a:r>
              <a:rPr lang="en-US" dirty="0">
                <a:ea typeface="+mn-lt"/>
                <a:cs typeface="+mn-lt"/>
              </a:rPr>
              <a:t> — can be deployed independently</a:t>
            </a: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1709354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EA2832-461F-1AC5-B905-7C82E6B4F0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 b="1" dirty="0">
                <a:solidFill>
                  <a:schemeClr val="tx2">
                    <a:lumMod val="49000"/>
                    <a:lumOff val="51000"/>
                  </a:schemeClr>
                </a:solidFill>
                <a:latin typeface="Aptos"/>
              </a:rPr>
              <a:t>Tech Stack</a:t>
            </a:r>
            <a:endParaRPr lang="en-US" sz="3200" b="1" dirty="0">
              <a:solidFill>
                <a:schemeClr val="tx2">
                  <a:lumMod val="49000"/>
                  <a:lumOff val="51000"/>
                </a:schemeClr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FF13F3-C6FB-986A-F895-C6E322D0386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82750"/>
            <a:ext cx="10515600" cy="4351338"/>
          </a:xfrm>
        </p:spPr>
        <p:txBody>
          <a:bodyPr vert="horz" lIns="91440" tIns="45720" rIns="91440" bIns="45720" rtlCol="0" anchor="t">
            <a:normAutofit fontScale="92500" lnSpcReduction="10000"/>
          </a:bodyPr>
          <a:lstStyle/>
          <a:p>
            <a:pPr marL="0" indent="0">
              <a:buNone/>
            </a:pPr>
            <a:endParaRPr lang="en-US"/>
          </a:p>
          <a:p>
            <a:r>
              <a:rPr lang="en-US" dirty="0">
                <a:ea typeface="+mn-lt"/>
                <a:cs typeface="+mn-lt"/>
              </a:rPr>
              <a:t>Frontend Framework: React 18 + TypeScript</a:t>
            </a:r>
            <a:endParaRPr lang="en-US" dirty="0"/>
          </a:p>
          <a:p>
            <a:r>
              <a:rPr lang="en-US" dirty="0">
                <a:ea typeface="+mn-lt"/>
                <a:cs typeface="+mn-lt"/>
              </a:rPr>
              <a:t>Bundler: Vite</a:t>
            </a:r>
            <a:endParaRPr lang="en-US" dirty="0"/>
          </a:p>
          <a:p>
            <a:r>
              <a:rPr lang="en-US" dirty="0">
                <a:ea typeface="+mn-lt"/>
                <a:cs typeface="+mn-lt"/>
              </a:rPr>
              <a:t>Module Federation Plugin: @originjs/vite-plugin-federation</a:t>
            </a:r>
            <a:endParaRPr lang="en-US" dirty="0"/>
          </a:p>
          <a:p>
            <a:r>
              <a:rPr lang="en-US" dirty="0">
                <a:ea typeface="+mn-lt"/>
                <a:cs typeface="+mn-lt"/>
              </a:rPr>
              <a:t>Routing: React Router v6</a:t>
            </a:r>
            <a:endParaRPr lang="en-US" dirty="0"/>
          </a:p>
          <a:p>
            <a:r>
              <a:rPr lang="en-US" dirty="0">
                <a:ea typeface="+mn-lt"/>
                <a:cs typeface="+mn-lt"/>
              </a:rPr>
              <a:t>Styling: SCSS Modules</a:t>
            </a:r>
            <a:endParaRPr lang="en-US" dirty="0"/>
          </a:p>
          <a:p>
            <a:r>
              <a:rPr lang="en-US" dirty="0">
                <a:ea typeface="+mn-lt"/>
                <a:cs typeface="+mn-lt"/>
              </a:rPr>
              <a:t>State Management: React hooks and props drilling (lightweight communication)</a:t>
            </a:r>
            <a:endParaRPr lang="en-US" dirty="0"/>
          </a:p>
          <a:p>
            <a:r>
              <a:rPr lang="en-US" dirty="0">
                <a:ea typeface="+mn-lt"/>
                <a:cs typeface="+mn-lt"/>
              </a:rPr>
              <a:t>Inter-app Communication: Local Storage + Custom Events</a:t>
            </a:r>
            <a:endParaRPr lang="en-US" dirty="0"/>
          </a:p>
          <a:p>
            <a:r>
              <a:rPr lang="en-US" dirty="0">
                <a:ea typeface="+mn-lt"/>
                <a:cs typeface="+mn-lt"/>
              </a:rPr>
              <a:t>Tooling: </a:t>
            </a:r>
            <a:r>
              <a:rPr lang="en-US" dirty="0" err="1">
                <a:ea typeface="+mn-lt"/>
                <a:cs typeface="+mn-lt"/>
              </a:rPr>
              <a:t>ESLint</a:t>
            </a:r>
            <a:r>
              <a:rPr lang="en-US" dirty="0">
                <a:ea typeface="+mn-lt"/>
                <a:cs typeface="+mn-lt"/>
              </a:rPr>
              <a:t> + Prettier for code quality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223099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ptos" panose="020B0004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0</Words>
  <Application>Microsoft Office PowerPoint</Application>
  <PresentationFormat>Widescreen</PresentationFormat>
  <Paragraphs>0</Paragraphs>
  <Slides>6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7" baseType="lpstr">
      <vt:lpstr>office theme</vt:lpstr>
      <vt:lpstr>PowerPoint Presentation</vt:lpstr>
      <vt:lpstr>This repository demonstrates a Micro-Frontend (MFE) architecture using Vite + React 18 + Module Federation.   The project includes three micro apps:</vt:lpstr>
      <vt:lpstr>dashboard-shell</vt:lpstr>
      <vt:lpstr>user-list-micro-frontend</vt:lpstr>
      <vt:lpstr>user-details-micro-frontend</vt:lpstr>
      <vt:lpstr>Tech Stack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/>
  <cp:revision>113</cp:revision>
  <dcterms:created xsi:type="dcterms:W3CDTF">2025-11-09T11:42:07Z</dcterms:created>
  <dcterms:modified xsi:type="dcterms:W3CDTF">2025-11-10T05:06:58Z</dcterms:modified>
</cp:coreProperties>
</file>